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308" r:id="rId2"/>
  </p:sldIdLst>
  <p:sldSz cx="493776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764"/>
    <a:srgbClr val="43546A"/>
    <a:srgbClr val="5070FF"/>
    <a:srgbClr val="9EC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10"/>
    <p:restoredTop sz="94760"/>
  </p:normalViewPr>
  <p:slideViewPr>
    <p:cSldViewPr snapToGrid="0">
      <p:cViewPr>
        <p:scale>
          <a:sx n="24" d="100"/>
          <a:sy n="24" d="100"/>
        </p:scale>
        <p:origin x="-496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63C06F-E095-F145-85C3-E8ED00EA93A6}" type="datetimeFigureOut">
              <a:rPr lang="en-US" smtClean="0"/>
              <a:t>4/23/26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75399E-1845-DA46-A22A-438FFA275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190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1pPr>
    <a:lvl2pPr marL="1975104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2pPr>
    <a:lvl3pPr marL="3950208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3pPr>
    <a:lvl4pPr marL="5925312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4pPr>
    <a:lvl5pPr marL="7900416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5pPr>
    <a:lvl6pPr marL="9875520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6pPr>
    <a:lvl7pPr marL="11850624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7pPr>
    <a:lvl8pPr marL="13825728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8pPr>
    <a:lvl9pPr marL="15800832" algn="l" defTabSz="3950208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8ABF7-FEA7-01C7-A304-9F0E4195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BF6307-4183-DFCF-74FC-17ECA9E64C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5F2E5F-E18F-37C6-D6B2-D50305F1F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In </a:t>
            </a:r>
            <a:r>
              <a:rPr lang="en-US" dirty="0" err="1"/>
              <a:t>Powerpoint</a:t>
            </a:r>
            <a:r>
              <a:rPr lang="en-US" dirty="0"/>
              <a:t>, click View &gt; Guides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Keep text within gutter guides.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Author list: Don’t split names onto two lines (e.g., “Jimmy [break] Smith”). If that happens, use a new line, unless you need the space. </a:t>
            </a:r>
            <a:r>
              <a:rPr lang="en-US" b="1" dirty="0"/>
              <a:t>Bold the first names of anybody who’s presenting</a:t>
            </a:r>
            <a:r>
              <a:rPr lang="en-US" dirty="0"/>
              <a:t> in person.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Intro/methods/result: </a:t>
            </a:r>
            <a:r>
              <a:rPr lang="en-US" b="1" dirty="0"/>
              <a:t>Do not drop below font size 28</a:t>
            </a:r>
            <a:r>
              <a:rPr lang="en-US" dirty="0"/>
              <a:t>, but if you have extra space, jack up the font size until the space is full.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Do not use color in the sidebars except in graphs/figures. It’ll pull attention from the center and slow interpretation for passersby.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F7565-2632-BC1A-80A3-21C8B093BC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6C2670-3342-473C-969D-FDFF399F205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4543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03320" y="5387342"/>
            <a:ext cx="4197096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72200" y="17289782"/>
            <a:ext cx="370332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980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2278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68995" y="8206749"/>
            <a:ext cx="4258818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68995" y="22029429"/>
            <a:ext cx="4258818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/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75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75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937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94710" y="8763000"/>
            <a:ext cx="20985480" cy="208864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997410" y="8763000"/>
            <a:ext cx="20985480" cy="208864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64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01141" y="1752607"/>
            <a:ext cx="4258818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01147" y="8069582"/>
            <a:ext cx="20889036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01147" y="12024360"/>
            <a:ext cx="20889036" cy="176860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4997413" y="8069582"/>
            <a:ext cx="20991911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4997413" y="12024360"/>
            <a:ext cx="20991911" cy="176860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356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814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69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01142" y="2194560"/>
            <a:ext cx="15925561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991911" y="4739647"/>
            <a:ext cx="2499741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01142" y="9875520"/>
            <a:ext cx="15925561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606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01142" y="2194560"/>
            <a:ext cx="15925561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0991911" y="4739647"/>
            <a:ext cx="2499741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01142" y="9875520"/>
            <a:ext cx="15925561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474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259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5335848" y="1752600"/>
            <a:ext cx="10647045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394713" y="1752600"/>
            <a:ext cx="31323915" cy="27896822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28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94710" y="1752607"/>
            <a:ext cx="4258818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94710" y="8763000"/>
            <a:ext cx="4258818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394710" y="30510487"/>
            <a:ext cx="111099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135061-2F74-46D4-9F8F-C77EF304855D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356330" y="30510487"/>
            <a:ext cx="166649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4872930" y="30510487"/>
            <a:ext cx="111099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780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eg"/><Relationship Id="rId3" Type="http://schemas.openxmlformats.org/officeDocument/2006/relationships/image" Target="../media/image1.png"/><Relationship Id="rId7" Type="http://schemas.microsoft.com/office/2007/relationships/hdphoto" Target="../media/hdphoto2.wdp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png"/><Relationship Id="rId5" Type="http://schemas.openxmlformats.org/officeDocument/2006/relationships/image" Target="../media/image2.gif"/><Relationship Id="rId10" Type="http://schemas.openxmlformats.org/officeDocument/2006/relationships/image" Target="../media/image6.png"/><Relationship Id="rId4" Type="http://schemas.microsoft.com/office/2007/relationships/hdphoto" Target="../media/hdphoto1.wdp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DD6912-01D4-6F89-21CF-8805ED54F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84B2881-88B4-9B63-C7DD-859E6713A0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49" b="93552" l="7880" r="90127">
                        <a14:foregroundMark x1="50362" y1="93552" x2="50362" y2="93552"/>
                        <a14:foregroundMark x1="90127" y1="52877" x2="90127" y2="52877"/>
                        <a14:foregroundMark x1="7971" y1="52381" x2="7971" y2="52381"/>
                        <a14:foregroundMark x1="45652" y1="6349" x2="45652" y2="6349"/>
                      </a14:backgroundRemoval>
                    </a14:imgEffect>
                  </a14:imgLayer>
                </a14:imgProps>
              </a:ext>
            </a:extLst>
          </a:blip>
          <a:srcRect l="5866" t="611" r="6895"/>
          <a:stretch>
            <a:fillRect/>
          </a:stretch>
        </p:blipFill>
        <p:spPr>
          <a:xfrm>
            <a:off x="15348561" y="-331257"/>
            <a:ext cx="17655597" cy="18126459"/>
          </a:xfrm>
          <a:prstGeom prst="rect">
            <a:avLst/>
          </a:prstGeom>
        </p:spPr>
      </p:pic>
      <p:sp>
        <p:nvSpPr>
          <p:cNvPr id="12" name="silent presenter">
            <a:extLst>
              <a:ext uri="{FF2B5EF4-FFF2-40B4-BE49-F238E27FC236}">
                <a16:creationId xmlns:a16="http://schemas.microsoft.com/office/drawing/2014/main" id="{C3A67C53-FA37-60FB-63C5-AA2D7E326AEC}"/>
              </a:ext>
            </a:extLst>
          </p:cNvPr>
          <p:cNvSpPr/>
          <p:nvPr/>
        </p:nvSpPr>
        <p:spPr>
          <a:xfrm>
            <a:off x="52912" y="-4954"/>
            <a:ext cx="13812254" cy="32838711"/>
          </a:xfrm>
          <a:prstGeom prst="rect">
            <a:avLst/>
          </a:prstGeom>
          <a:solidFill>
            <a:srgbClr val="9EC3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B57351-ED09-18CA-F005-7AEC47E49C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18078" y="17359173"/>
            <a:ext cx="21502395" cy="15358854"/>
          </a:xfrm>
          <a:prstGeom prst="rect">
            <a:avLst/>
          </a:prstGeom>
        </p:spPr>
      </p:pic>
      <p:sp>
        <p:nvSpPr>
          <p:cNvPr id="29" name="silent presenter">
            <a:extLst>
              <a:ext uri="{FF2B5EF4-FFF2-40B4-BE49-F238E27FC236}">
                <a16:creationId xmlns:a16="http://schemas.microsoft.com/office/drawing/2014/main" id="{ECC8A7C8-FBB3-D7C8-CF62-F246FE2E81BA}"/>
              </a:ext>
            </a:extLst>
          </p:cNvPr>
          <p:cNvSpPr/>
          <p:nvPr/>
        </p:nvSpPr>
        <p:spPr>
          <a:xfrm>
            <a:off x="35541900" y="4628"/>
            <a:ext cx="13812254" cy="32829129"/>
          </a:xfrm>
          <a:prstGeom prst="rect">
            <a:avLst/>
          </a:prstGeom>
          <a:solidFill>
            <a:srgbClr val="9EC3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3D65A01-F1F6-E9F5-256D-F6CFB4C50A96}"/>
              </a:ext>
            </a:extLst>
          </p:cNvPr>
          <p:cNvSpPr/>
          <p:nvPr/>
        </p:nvSpPr>
        <p:spPr>
          <a:xfrm>
            <a:off x="-1" y="8581621"/>
            <a:ext cx="13812253" cy="287633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1138DA4-8771-C221-306F-27DF775DD6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57129" y="5303800"/>
            <a:ext cx="13038459" cy="6555641"/>
          </a:xfrm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7500" dirty="0">
                <a:solidFill>
                  <a:schemeClr val="bg1"/>
                </a:solidFill>
                <a:latin typeface="Arial Rounded MT Bold" panose="020F0704030504030204" pitchFamily="34" charset="77"/>
                <a:ea typeface="Segoe UI Black" panose="020B0A02040204020203" pitchFamily="34" charset="0"/>
                <a:cs typeface="Arial" panose="020B0604020202020204" pitchFamily="34" charset="0"/>
              </a:rPr>
              <a:t>Measles</a:t>
            </a:r>
            <a:r>
              <a:rPr lang="en-US" sz="7500" dirty="0">
                <a:solidFill>
                  <a:schemeClr val="bg1"/>
                </a:solidFill>
                <a:latin typeface="Arial" panose="020B0604020202020204" pitchFamily="34" charset="0"/>
                <a:ea typeface="Segoe UI Black" panose="020B0A02040204020203" pitchFamily="34" charset="0"/>
                <a:cs typeface="Arial" panose="020B0604020202020204" pitchFamily="34" charset="0"/>
              </a:rPr>
              <a:t> is </a:t>
            </a:r>
            <a:r>
              <a:rPr lang="en-US" sz="7500" dirty="0">
                <a:solidFill>
                  <a:schemeClr val="bg1"/>
                </a:solidFill>
                <a:latin typeface="Arial Rounded MT Bold" panose="020F0704030504030204" pitchFamily="34" charset="77"/>
                <a:ea typeface="Segoe UI Black" panose="020B0A02040204020203" pitchFamily="34" charset="0"/>
                <a:cs typeface="Arial" panose="020B0604020202020204" pitchFamily="34" charset="0"/>
              </a:rPr>
              <a:t>re-emerging</a:t>
            </a:r>
            <a:r>
              <a:rPr lang="en-US" sz="7500" dirty="0">
                <a:solidFill>
                  <a:schemeClr val="bg1"/>
                </a:solidFill>
                <a:latin typeface="Arial" panose="020B0604020202020204" pitchFamily="34" charset="0"/>
                <a:ea typeface="Segoe UI Black" panose="020B0A02040204020203" pitchFamily="34" charset="0"/>
                <a:cs typeface="Arial" panose="020B0604020202020204" pitchFamily="34" charset="0"/>
              </a:rPr>
              <a:t> where vaccination coverage drops and we need to </a:t>
            </a:r>
            <a:r>
              <a:rPr lang="en-US" sz="7500" dirty="0">
                <a:solidFill>
                  <a:schemeClr val="bg1"/>
                </a:solidFill>
                <a:latin typeface="Arial Rounded MT Bold" panose="020F0704030504030204" pitchFamily="34" charset="77"/>
                <a:ea typeface="Segoe UI Black" panose="020B0A02040204020203" pitchFamily="34" charset="0"/>
                <a:cs typeface="Arial" panose="020B0604020202020204" pitchFamily="34" charset="0"/>
              </a:rPr>
              <a:t>do something about it.</a:t>
            </a:r>
            <a:endParaRPr lang="en-US" sz="7500" dirty="0">
              <a:solidFill>
                <a:schemeClr val="bg1"/>
              </a:solidFill>
              <a:latin typeface="Arial Rounded MT Bold" panose="020F0704030504030204" pitchFamily="34" charset="77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F0ED34-2D64-D77A-023D-EDBC67CB1146}"/>
              </a:ext>
            </a:extLst>
          </p:cNvPr>
          <p:cNvSpPr txBox="1"/>
          <p:nvPr/>
        </p:nvSpPr>
        <p:spPr>
          <a:xfrm>
            <a:off x="18775302" y="30663943"/>
            <a:ext cx="477089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Scan to </a:t>
            </a:r>
            <a:b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view the project on GitHub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EA1EB87-2640-A731-5636-F5F75DA0874F}"/>
              </a:ext>
            </a:extLst>
          </p:cNvPr>
          <p:cNvCxnSpPr>
            <a:cxnSpLocks/>
          </p:cNvCxnSpPr>
          <p:nvPr/>
        </p:nvCxnSpPr>
        <p:spPr>
          <a:xfrm flipH="1">
            <a:off x="17284222" y="31633439"/>
            <a:ext cx="1297464" cy="0"/>
          </a:xfrm>
          <a:prstGeom prst="straightConnector1">
            <a:avLst/>
          </a:prstGeom>
          <a:ln w="66675"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DE7B742D-947C-D481-D4F8-DD3687056910}"/>
              </a:ext>
            </a:extLst>
          </p:cNvPr>
          <p:cNvSpPr/>
          <p:nvPr/>
        </p:nvSpPr>
        <p:spPr>
          <a:xfrm>
            <a:off x="5154313" y="9405852"/>
            <a:ext cx="4410182" cy="125303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Arkesh Das</a:t>
            </a:r>
            <a:endParaRPr kumimoji="0" lang="en-US" sz="7000" b="1" i="1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Lato" panose="020F050202020403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06FC20-1467-30DD-880C-AA756A27FF2E}"/>
              </a:ext>
            </a:extLst>
          </p:cNvPr>
          <p:cNvSpPr txBox="1"/>
          <p:nvPr/>
        </p:nvSpPr>
        <p:spPr>
          <a:xfrm>
            <a:off x="261024" y="505174"/>
            <a:ext cx="12971735" cy="7540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100" b="1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Measles is Back:</a:t>
            </a:r>
            <a:br>
              <a:rPr kumimoji="0" lang="en-US" sz="121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</a:br>
            <a:r>
              <a:rPr kumimoji="0" lang="en-US" sz="121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Lato" panose="020F0502020204030203" pitchFamily="34" charset="0"/>
                <a:ea typeface="+mn-ea"/>
                <a:cs typeface="Segoe UI" panose="020B0502040204020203" pitchFamily="34" charset="0"/>
              </a:rPr>
              <a:t>A Data-Driven Look at Vaccination Gaps in the U.S.</a:t>
            </a:r>
          </a:p>
        </p:txBody>
      </p:sp>
      <p:pic>
        <p:nvPicPr>
          <p:cNvPr id="1028" name="Picture 4" descr="MSU Trademarks | University Trademarks and Licensing ...">
            <a:extLst>
              <a:ext uri="{FF2B5EF4-FFF2-40B4-BE49-F238E27FC236}">
                <a16:creationId xmlns:a16="http://schemas.microsoft.com/office/drawing/2014/main" id="{1D3ABDBC-B559-4AE8-5B67-659133D0D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prstClr val="black"/>
              <a:schemeClr val="accent5">
                <a:lumMod val="5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000" b="95667" l="3600" r="94800">
                        <a14:foregroundMark x1="30400" y1="20000" x2="30400" y2="20000"/>
                        <a14:foregroundMark x1="80800" y1="91333" x2="80800" y2="91333"/>
                        <a14:foregroundMark x1="84400" y1="95667" x2="84400" y2="95667"/>
                        <a14:foregroundMark x1="90400" y1="71333" x2="90400" y2="71333"/>
                        <a14:foregroundMark x1="94800" y1="73667" x2="94800" y2="73667"/>
                        <a14:foregroundMark x1="3600" y1="45667" x2="3600" y2="45667"/>
                        <a14:foregroundMark x1="24000" y1="48000" x2="24000" y2="48000"/>
                        <a14:foregroundMark x1="21600" y1="54333" x2="21600" y2="54333"/>
                        <a14:foregroundMark x1="28400" y1="43000" x2="28400" y2="43000"/>
                        <a14:foregroundMark x1="32800" y1="39333" x2="32800" y2="39333"/>
                        <a14:foregroundMark x1="37600" y1="35667" x2="37600" y2="35667"/>
                        <a14:foregroundMark x1="50400" y1="31333" x2="50400" y2="31333"/>
                        <a14:foregroundMark x1="56800" y1="29000" x2="56800" y2="29000"/>
                        <a14:foregroundMark x1="42800" y1="31333" x2="42800" y2="31333"/>
                        <a14:foregroundMark x1="62000" y1="6000" x2="62000" y2="6000"/>
                        <a14:backgroundMark x1="24000" y1="49000" x2="24000" y2="49000"/>
                        <a14:backgroundMark x1="23600" y1="49000" x2="23600" y2="49000"/>
                        <a14:backgroundMark x1="23600" y1="49000" x2="23600" y2="49000"/>
                        <a14:backgroundMark x1="23600" y1="48667" x2="23600" y2="48667"/>
                        <a14:backgroundMark x1="24000" y1="48667" x2="24000" y2="48667"/>
                        <a14:backgroundMark x1="23600" y1="48333" x2="23600" y2="48333"/>
                        <a14:backgroundMark x1="41600" y1="34667" x2="41600" y2="34667"/>
                        <a14:backgroundMark x1="41600" y1="34000" x2="41600" y2="34000"/>
                        <a14:backgroundMark x1="69600" y1="27000" x2="69600" y2="27000"/>
                        <a14:backgroundMark x1="83600" y1="96667" x2="83600" y2="96667"/>
                        <a14:backgroundMark x1="84000" y1="96333" x2="84000" y2="96333"/>
                        <a14:backgroundMark x1="84400" y1="96667" x2="84400" y2="96667"/>
                        <a14:backgroundMark x1="84400" y1="96333" x2="84400" y2="96333"/>
                        <a14:backgroundMark x1="83600" y1="96000" x2="83600" y2="96000"/>
                        <a14:backgroundMark x1="94400" y1="74667" x2="94400" y2="74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4000" y="30663302"/>
            <a:ext cx="1808713" cy="2170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744E695-BE98-1F22-7BC9-84D9D2E33BB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701" t="7162" r="3152" b="25229"/>
          <a:stretch>
            <a:fillRect/>
          </a:stretch>
        </p:blipFill>
        <p:spPr>
          <a:xfrm>
            <a:off x="1536307" y="8948398"/>
            <a:ext cx="2167945" cy="2167945"/>
          </a:xfrm>
          <a:prstGeom prst="rect">
            <a:avLst/>
          </a:prstGeom>
          <a:ln w="38100">
            <a:solidFill>
              <a:schemeClr val="accent1">
                <a:lumMod val="20000"/>
                <a:lumOff val="80000"/>
              </a:schemeClr>
            </a:solidFill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B3883AD-A4A0-3163-C6B8-B3CC049EC50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78" t="10122" r="19965" b="1021"/>
          <a:stretch>
            <a:fillRect/>
          </a:stretch>
        </p:blipFill>
        <p:spPr>
          <a:xfrm>
            <a:off x="261024" y="13035353"/>
            <a:ext cx="13447219" cy="7802366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C5E23152-34EB-435A-5C04-93BECC4B8A8F}"/>
              </a:ext>
            </a:extLst>
          </p:cNvPr>
          <p:cNvSpPr txBox="1"/>
          <p:nvPr/>
        </p:nvSpPr>
        <p:spPr>
          <a:xfrm>
            <a:off x="518237" y="21987942"/>
            <a:ext cx="7681759" cy="75251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While</a:t>
            </a:r>
            <a:r>
              <a:rPr kumimoji="0" lang="en-US" sz="69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Rounded MT Bold" panose="020F0704030504030204" pitchFamily="34" charset="77"/>
                <a:ea typeface="+mn-ea"/>
                <a:cs typeface="+mn-cs"/>
              </a:rPr>
              <a:t> measles is declining globally </a:t>
            </a:r>
            <a:r>
              <a:rPr kumimoji="0" lang="en-US" sz="6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and across </a:t>
            </a:r>
            <a:r>
              <a:rPr kumimoji="0" lang="en-US" sz="69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Rounded MT Bold" panose="020F0704030504030204" pitchFamily="34" charset="77"/>
                <a:ea typeface="+mn-ea"/>
                <a:cs typeface="+mn-cs"/>
              </a:rPr>
              <a:t>Europe, the United States </a:t>
            </a:r>
            <a:r>
              <a:rPr kumimoji="0" lang="en-US" sz="6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is seeing a renewed</a:t>
            </a:r>
            <a:r>
              <a:rPr kumimoji="0" lang="en-US" sz="69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Rounded MT Bold" panose="020F0704030504030204" pitchFamily="34" charset="77"/>
                <a:ea typeface="+mn-ea"/>
                <a:cs typeface="+mn-cs"/>
              </a:rPr>
              <a:t> increase.</a:t>
            </a:r>
            <a:endParaRPr kumimoji="0" lang="en-US" sz="6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Rounded MT Bold" panose="020F0704030504030204" pitchFamily="34" charset="77"/>
              <a:ea typeface="+mn-ea"/>
              <a:cs typeface="+mn-cs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866579B3-F104-05A7-CF53-AE3086AB6AF2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17469" b="9274"/>
          <a:stretch>
            <a:fillRect/>
          </a:stretch>
        </p:blipFill>
        <p:spPr>
          <a:xfrm>
            <a:off x="32538424" y="2412930"/>
            <a:ext cx="19247701" cy="655564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056FF3B-85D2-C039-23CB-5FF85DEF094E}"/>
              </a:ext>
            </a:extLst>
          </p:cNvPr>
          <p:cNvSpPr txBox="1"/>
          <p:nvPr/>
        </p:nvSpPr>
        <p:spPr>
          <a:xfrm>
            <a:off x="35757128" y="11364103"/>
            <a:ext cx="1320686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Even</a:t>
            </a:r>
            <a:r>
              <a:rPr kumimoji="0" lang="en-US" sz="6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Rounded MT Bold" panose="020F0704030504030204" pitchFamily="34" charset="77"/>
                <a:ea typeface="+mn-ea"/>
                <a:cs typeface="+mn-cs"/>
              </a:rPr>
              <a:t> slight drops </a:t>
            </a:r>
            <a:r>
              <a:rPr kumimoji="0" lang="en-US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</a:t>
            </a:r>
            <a:r>
              <a:rPr kumimoji="0" lang="en-US" sz="6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Rounded MT Bold" panose="020F0704030504030204" pitchFamily="34" charset="77"/>
                <a:ea typeface="+mn-ea"/>
                <a:cs typeface="+mn-cs"/>
              </a:rPr>
              <a:t> vaccination coverage </a:t>
            </a:r>
            <a:r>
              <a:rPr kumimoji="0" lang="en-US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produce a rapidly </a:t>
            </a:r>
            <a:r>
              <a:rPr kumimoji="0" lang="en-US" sz="6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Rounded MT Bold" panose="020F0704030504030204" pitchFamily="34" charset="77"/>
                <a:ea typeface="+mn-ea"/>
                <a:cs typeface="+mn-cs"/>
              </a:rPr>
              <a:t>accumulating </a:t>
            </a:r>
            <a:r>
              <a:rPr kumimoji="0" lang="en-US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pool of </a:t>
            </a:r>
            <a:r>
              <a:rPr kumimoji="0" lang="en-US" sz="6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Rounded MT Bold" panose="020F0704030504030204" pitchFamily="34" charset="77"/>
                <a:ea typeface="+mn-ea"/>
                <a:cs typeface="+mn-cs"/>
              </a:rPr>
              <a:t>unvaccinated children.</a:t>
            </a:r>
            <a:endParaRPr kumimoji="0" lang="en-US" sz="6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Rounded MT Bold" panose="020F0704030504030204" pitchFamily="34" charset="77"/>
              <a:ea typeface="+mn-ea"/>
              <a:cs typeface="+mn-cs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DDFB2D7D-E3C2-B6CD-5908-AA7968474EE4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35595734" y="19584464"/>
            <a:ext cx="13368262" cy="7788466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24A1B6EB-B9EB-4AC6-668F-2AF5B4CE66A7}"/>
              </a:ext>
            </a:extLst>
          </p:cNvPr>
          <p:cNvSpPr txBox="1"/>
          <p:nvPr/>
        </p:nvSpPr>
        <p:spPr>
          <a:xfrm>
            <a:off x="35883232" y="27594093"/>
            <a:ext cx="13206869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Where</a:t>
            </a:r>
            <a:r>
              <a:rPr kumimoji="0" lang="en-US" sz="6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Rounded MT Bold" panose="020F0704030504030204" pitchFamily="34" charset="77"/>
                <a:ea typeface="+mn-ea"/>
                <a:cs typeface="+mn-cs"/>
              </a:rPr>
              <a:t> vaccination </a:t>
            </a:r>
            <a:r>
              <a:rPr kumimoji="0" lang="en-US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requirements are </a:t>
            </a:r>
            <a:r>
              <a:rPr kumimoji="0" lang="en-US" sz="6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Rounded MT Bold" panose="020F0704030504030204" pitchFamily="34" charset="77"/>
                <a:ea typeface="+mn-ea"/>
                <a:cs typeface="+mn-cs"/>
              </a:rPr>
              <a:t>weaker, measles cases are higher, </a:t>
            </a:r>
            <a:r>
              <a:rPr kumimoji="0" lang="en-US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making a clear case for </a:t>
            </a:r>
            <a:r>
              <a:rPr kumimoji="0" lang="en-US" sz="6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Rounded MT Bold" panose="020F0704030504030204" pitchFamily="34" charset="77"/>
                <a:ea typeface="+mn-ea"/>
                <a:cs typeface="+mn-cs"/>
              </a:rPr>
              <a:t>standardized national vaccine policies.</a:t>
            </a:r>
            <a:endParaRPr kumimoji="0" lang="en-US" sz="6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Rounded MT Bold" panose="020F0704030504030204" pitchFamily="34" charset="77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C5C5DC-4548-8EDB-B9DE-6E9F057A30A3}"/>
              </a:ext>
            </a:extLst>
          </p:cNvPr>
          <p:cNvSpPr txBox="1"/>
          <p:nvPr/>
        </p:nvSpPr>
        <p:spPr>
          <a:xfrm>
            <a:off x="0" y="11903020"/>
            <a:ext cx="1381888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Measles Cases Over Time</a:t>
            </a:r>
            <a:endParaRPr kumimoji="0" lang="en-US" sz="70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Arial Rounded MT Bold" panose="020F0704030504030204" pitchFamily="34" charset="77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EEEECE6-0869-B481-5AFA-7349041641D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80781" t="15836" r="-279" b="8506"/>
          <a:stretch>
            <a:fillRect/>
          </a:stretch>
        </p:blipFill>
        <p:spPr>
          <a:xfrm>
            <a:off x="9379805" y="21878612"/>
            <a:ext cx="3852954" cy="7786397"/>
          </a:xfrm>
          <a:prstGeom prst="rect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A2309263-9144-4586-3B0F-7B8D894CF780}"/>
              </a:ext>
            </a:extLst>
          </p:cNvPr>
          <p:cNvSpPr/>
          <p:nvPr/>
        </p:nvSpPr>
        <p:spPr>
          <a:xfrm>
            <a:off x="12545568" y="17995392"/>
            <a:ext cx="687191" cy="1682496"/>
          </a:xfrm>
          <a:prstGeom prst="rect">
            <a:avLst/>
          </a:prstGeom>
          <a:noFill/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FFE5F45-6453-5523-35E9-EE6F58B55168}"/>
              </a:ext>
            </a:extLst>
          </p:cNvPr>
          <p:cNvCxnSpPr>
            <a:cxnSpLocks/>
          </p:cNvCxnSpPr>
          <p:nvPr/>
        </p:nvCxnSpPr>
        <p:spPr>
          <a:xfrm flipV="1">
            <a:off x="9269166" y="17995392"/>
            <a:ext cx="3276402" cy="3883220"/>
          </a:xfrm>
          <a:prstGeom prst="line">
            <a:avLst/>
          </a:prstGeom>
          <a:ln w="571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F87FA43-2245-A39A-CF0C-F531D4AC600A}"/>
              </a:ext>
            </a:extLst>
          </p:cNvPr>
          <p:cNvCxnSpPr>
            <a:cxnSpLocks/>
          </p:cNvCxnSpPr>
          <p:nvPr/>
        </p:nvCxnSpPr>
        <p:spPr>
          <a:xfrm flipV="1">
            <a:off x="13269335" y="17995392"/>
            <a:ext cx="0" cy="3883220"/>
          </a:xfrm>
          <a:prstGeom prst="line">
            <a:avLst/>
          </a:prstGeom>
          <a:ln w="571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0DA558C-0591-3E1B-F3E0-D9423219228E}"/>
              </a:ext>
            </a:extLst>
          </p:cNvPr>
          <p:cNvSpPr txBox="1"/>
          <p:nvPr/>
        </p:nvSpPr>
        <p:spPr>
          <a:xfrm>
            <a:off x="9775447" y="24146142"/>
            <a:ext cx="70205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+</a:t>
            </a:r>
            <a:endParaRPr kumimoji="0" lang="en-US" sz="70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Rounded MT Bold" panose="020F0704030504030204" pitchFamily="34" charset="77"/>
              <a:ea typeface="+mn-ea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119B823-A435-53B6-48F8-C20833E70CCE}"/>
              </a:ext>
            </a:extLst>
          </p:cNvPr>
          <p:cNvSpPr txBox="1"/>
          <p:nvPr/>
        </p:nvSpPr>
        <p:spPr>
          <a:xfrm>
            <a:off x="10955255" y="27023888"/>
            <a:ext cx="70205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</a:t>
            </a:r>
            <a:endParaRPr kumimoji="0" lang="en-US" sz="70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Rounded MT Bold" panose="020F0704030504030204" pitchFamily="34" charset="77"/>
              <a:ea typeface="+mn-ea"/>
              <a:cs typeface="+mn-cs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4780C96-C302-4A59-F913-A08D750246FB}"/>
              </a:ext>
            </a:extLst>
          </p:cNvPr>
          <p:cNvSpPr txBox="1"/>
          <p:nvPr/>
        </p:nvSpPr>
        <p:spPr>
          <a:xfrm>
            <a:off x="12130766" y="27023887"/>
            <a:ext cx="70205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</a:t>
            </a:r>
            <a:endParaRPr kumimoji="0" lang="en-US" sz="70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Rounded MT Bold" panose="020F0704030504030204" pitchFamily="34" charset="77"/>
              <a:ea typeface="+mn-ea"/>
              <a:cs typeface="+mn-cs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D1E5A823-8E37-B97A-0FD3-689C9266C3DC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62090" t="89222" b="4507"/>
          <a:stretch>
            <a:fillRect/>
          </a:stretch>
        </p:blipFill>
        <p:spPr>
          <a:xfrm>
            <a:off x="35757127" y="9064484"/>
            <a:ext cx="7926420" cy="609573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E9FE656-77EB-78D3-66D4-A2484F47B7E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91662" r="40514" b="3226"/>
          <a:stretch>
            <a:fillRect/>
          </a:stretch>
        </p:blipFill>
        <p:spPr>
          <a:xfrm>
            <a:off x="35595734" y="10039217"/>
            <a:ext cx="12245559" cy="48925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1D2C624E-EE90-CDFF-C439-F2CD8F542EB5}"/>
              </a:ext>
            </a:extLst>
          </p:cNvPr>
          <p:cNvSpPr txBox="1"/>
          <p:nvPr/>
        </p:nvSpPr>
        <p:spPr>
          <a:xfrm>
            <a:off x="35595734" y="75499"/>
            <a:ext cx="1378186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MMR Vaccination Coverage and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Unvaccinated Kids in the US</a:t>
            </a:r>
            <a:endParaRPr kumimoji="0" lang="en-US" sz="70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Arial Rounded MT Bold" panose="020F0704030504030204" pitchFamily="34" charset="77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8DF6BA-F7D1-B452-E4EC-CF4361FE6CA9}"/>
              </a:ext>
            </a:extLst>
          </p:cNvPr>
          <p:cNvSpPr txBox="1"/>
          <p:nvPr/>
        </p:nvSpPr>
        <p:spPr>
          <a:xfrm>
            <a:off x="35541900" y="16122253"/>
            <a:ext cx="138357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Higher Exemption Rates Correspond to Greater Outbreak Risk</a:t>
            </a:r>
            <a:endParaRPr kumimoji="0" lang="en-US" sz="70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Arial Rounded MT Bold" panose="020F0704030504030204" pitchFamily="34" charset="77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8F48DC-2FA2-5320-320E-BEE7424A1BD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551382" y="30358469"/>
            <a:ext cx="2549940" cy="254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240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546</TotalTime>
  <Words>241</Words>
  <Application>Microsoft Macintosh PowerPoint</Application>
  <PresentationFormat>Custom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Arial</vt:lpstr>
      <vt:lpstr>Arial Rounded MT Bold</vt:lpstr>
      <vt:lpstr>Calibri</vt:lpstr>
      <vt:lpstr>Calibri Light</vt:lpstr>
      <vt:lpstr>Lato</vt:lpstr>
      <vt:lpstr>Office Theme</vt:lpstr>
      <vt:lpstr>Measles is re-emerging where vaccination coverage drops and we need to do something about 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Das, Arkesh</dc:creator>
  <cp:lastModifiedBy>Das, Arkesh</cp:lastModifiedBy>
  <cp:revision>6</cp:revision>
  <dcterms:created xsi:type="dcterms:W3CDTF">2026-04-09T17:18:54Z</dcterms:created>
  <dcterms:modified xsi:type="dcterms:W3CDTF">2026-04-23T17:48:02Z</dcterms:modified>
</cp:coreProperties>
</file>