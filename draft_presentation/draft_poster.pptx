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307" r:id="rId2"/>
    <p:sldId id="308" r:id="rId3"/>
  </p:sldIdLst>
  <p:sldSz cx="49377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7"/>
  </p:normalViewPr>
  <p:slideViewPr>
    <p:cSldViewPr snapToGrid="0">
      <p:cViewPr>
        <p:scale>
          <a:sx n="27" d="100"/>
          <a:sy n="27" d="100"/>
        </p:scale>
        <p:origin x="760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3C06F-E095-F145-85C3-E8ED00EA93A6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5399E-1845-DA46-A22A-438FFA275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90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975104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3950208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5925312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7900416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9875520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11850624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13825728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5800832" algn="l" defTabSz="3950208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Powerpoint</a:t>
            </a:r>
            <a:r>
              <a:rPr lang="en-US" dirty="0"/>
              <a:t>, click View &gt; Guides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Keep text within gutter guides.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Author list: Don’t split names onto two lines (e.g., “Jimmy [break] Smith”). If that happens, use a new line, unless you need the space. </a:t>
            </a:r>
            <a:r>
              <a:rPr lang="en-US" b="1" dirty="0"/>
              <a:t>Bold the first names of anybody who’s presenting</a:t>
            </a:r>
            <a:r>
              <a:rPr lang="en-US" dirty="0"/>
              <a:t> in person.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Intro/methods/result: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jack up the font size until the space is full.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use color in the sidebars except in graphs/figures. It’ll pull attention from the center and slow interpretation for passersby.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6C2670-3342-473C-969D-FDFF399F20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003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5A4CB-4373-C8E9-B917-1AA78D70B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648B3-6D23-32CD-6664-AAA29BB0F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52DA75-B89B-4EFB-6D56-3B3AB244C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Powerpoint</a:t>
            </a:r>
            <a:r>
              <a:rPr lang="en-US" dirty="0"/>
              <a:t>, click View &gt; Guides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Keep text within gutter guides.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Author list: Don’t split names onto two lines (e.g., “Jimmy [break] Smith”). If that happens, use a new line, unless you need the space. </a:t>
            </a:r>
            <a:r>
              <a:rPr lang="en-US" b="1" dirty="0"/>
              <a:t>Bold the first names of anybody who’s presenting</a:t>
            </a:r>
            <a:r>
              <a:rPr lang="en-US" dirty="0"/>
              <a:t> in person.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Intro/methods/result: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jack up the font size until the space is full.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use color in the sidebars except in graphs/figures. It’ll pull attention from the center and slow interpretation for passersby.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A2BCB-5120-067D-CF11-E98E92863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6C2670-3342-473C-969D-FDFF399F20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891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320" y="5387342"/>
            <a:ext cx="4197096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2200" y="17289782"/>
            <a:ext cx="370332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8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27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995" y="8206749"/>
            <a:ext cx="4258818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8995" y="22029429"/>
            <a:ext cx="4258818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37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94710" y="8763000"/>
            <a:ext cx="2098548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97410" y="8763000"/>
            <a:ext cx="2098548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6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1" y="1752607"/>
            <a:ext cx="4258818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1147" y="8069582"/>
            <a:ext cx="20889036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01147" y="12024360"/>
            <a:ext cx="20889036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997413" y="8069582"/>
            <a:ext cx="20991911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997413" y="12024360"/>
            <a:ext cx="20991911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56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1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2" y="2194560"/>
            <a:ext cx="15925561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91911" y="4739647"/>
            <a:ext cx="2499741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142" y="9875520"/>
            <a:ext cx="15925561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0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2" y="2194560"/>
            <a:ext cx="15925561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991911" y="4739647"/>
            <a:ext cx="2499741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142" y="9875520"/>
            <a:ext cx="15925561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7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59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335848" y="1752600"/>
            <a:ext cx="10647045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94713" y="1752600"/>
            <a:ext cx="31323915" cy="2789682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8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4710" y="1752607"/>
            <a:ext cx="425881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4710" y="8763000"/>
            <a:ext cx="425881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94710" y="30510487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35061-2F74-46D4-9F8F-C77EF304855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56330" y="30510487"/>
            <a:ext cx="166649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872930" y="30510487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8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10" Type="http://schemas.openxmlformats.org/officeDocument/2006/relationships/image" Target="../media/image6.png"/><Relationship Id="rId4" Type="http://schemas.microsoft.com/office/2007/relationships/hdphoto" Target="../media/hdphoto1.wdp"/><Relationship Id="rId9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microsoft.com/office/2007/relationships/hdphoto" Target="../media/hdphoto4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microsoft.com/office/2007/relationships/hdphoto" Target="../media/hdphoto3.wdp"/><Relationship Id="rId9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8AD6E2-34EA-D611-ED70-DDF6F1C84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49" b="93552" l="7880" r="90127">
                        <a14:foregroundMark x1="50362" y1="93552" x2="50362" y2="93552"/>
                        <a14:foregroundMark x1="90127" y1="52877" x2="90127" y2="52877"/>
                        <a14:foregroundMark x1="7971" y1="52381" x2="7971" y2="52381"/>
                        <a14:foregroundMark x1="45652" y1="6349" x2="45652" y2="6349"/>
                      </a14:backgroundRemoval>
                    </a14:imgEffect>
                  </a14:imgLayer>
                </a14:imgProps>
              </a:ext>
            </a:extLst>
          </a:blip>
          <a:srcRect l="8934" t="54559" r="9518" b="1"/>
          <a:stretch>
            <a:fillRect/>
          </a:stretch>
        </p:blipFill>
        <p:spPr>
          <a:xfrm>
            <a:off x="6132752" y="4628"/>
            <a:ext cx="36380575" cy="18268374"/>
          </a:xfrm>
          <a:prstGeom prst="rect">
            <a:avLst/>
          </a:prstGeom>
        </p:spPr>
      </p:pic>
      <p:sp>
        <p:nvSpPr>
          <p:cNvPr id="12" name="silent presenter">
            <a:extLst>
              <a:ext uri="{FF2B5EF4-FFF2-40B4-BE49-F238E27FC236}">
                <a16:creationId xmlns:a16="http://schemas.microsoft.com/office/drawing/2014/main" id="{EC86DA8B-8163-4552-8FA4-435C18CFF2A9}"/>
              </a:ext>
            </a:extLst>
          </p:cNvPr>
          <p:cNvSpPr/>
          <p:nvPr/>
        </p:nvSpPr>
        <p:spPr>
          <a:xfrm>
            <a:off x="-1" y="0"/>
            <a:ext cx="13812254" cy="3291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ilent presenter">
            <a:extLst>
              <a:ext uri="{FF2B5EF4-FFF2-40B4-BE49-F238E27FC236}">
                <a16:creationId xmlns:a16="http://schemas.microsoft.com/office/drawing/2014/main" id="{E91355F0-DE1F-ABC6-5F6D-6F3401B7C721}"/>
              </a:ext>
            </a:extLst>
          </p:cNvPr>
          <p:cNvSpPr/>
          <p:nvPr/>
        </p:nvSpPr>
        <p:spPr>
          <a:xfrm>
            <a:off x="35565346" y="0"/>
            <a:ext cx="13812254" cy="3291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B1745B-D693-DEA5-8CCE-0CCD4EBAF37E}"/>
              </a:ext>
            </a:extLst>
          </p:cNvPr>
          <p:cNvSpPr/>
          <p:nvPr/>
        </p:nvSpPr>
        <p:spPr>
          <a:xfrm>
            <a:off x="-1" y="8581621"/>
            <a:ext cx="13812253" cy="2876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C4359A-7BBB-495A-96DE-65574C0C8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01999" y="200374"/>
            <a:ext cx="21173600" cy="10767172"/>
          </a:xfrm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1500" dirty="0">
                <a:solidFill>
                  <a:schemeClr val="bg1"/>
                </a:solidFill>
                <a:latin typeface="Arial Rounded MT Bold" panose="020F0704030504030204" pitchFamily="34" charset="77"/>
                <a:ea typeface="Segoe UI Black" panose="020B0A02040204020203" pitchFamily="34" charset="0"/>
                <a:cs typeface="Arial" panose="020B0604020202020204" pitchFamily="34" charset="0"/>
              </a:rPr>
              <a:t>Measles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 is </a:t>
            </a:r>
            <a:r>
              <a:rPr lang="en-US" sz="11500" dirty="0">
                <a:solidFill>
                  <a:schemeClr val="bg1"/>
                </a:solidFill>
                <a:latin typeface="Arial Rounded MT Bold" panose="020F0704030504030204" pitchFamily="34" charset="77"/>
                <a:ea typeface="Segoe UI Black" panose="020B0A02040204020203" pitchFamily="34" charset="0"/>
                <a:cs typeface="Arial" panose="020B0604020202020204" pitchFamily="34" charset="0"/>
              </a:rPr>
              <a:t>re-emerging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 where vaccination coverage drops and we need to </a:t>
            </a:r>
            <a:r>
              <a:rPr lang="en-US" sz="11500" dirty="0">
                <a:solidFill>
                  <a:schemeClr val="bg1"/>
                </a:solidFill>
                <a:latin typeface="Arial Rounded MT Bold" panose="020F0704030504030204" pitchFamily="34" charset="77"/>
                <a:ea typeface="Segoe UI Black" panose="020B0A02040204020203" pitchFamily="34" charset="0"/>
                <a:cs typeface="Arial" panose="020B0604020202020204" pitchFamily="34" charset="0"/>
              </a:rPr>
              <a:t>do something about it.</a:t>
            </a:r>
            <a:endParaRPr lang="en-US" sz="11500" dirty="0">
              <a:solidFill>
                <a:schemeClr val="bg1"/>
              </a:solidFill>
              <a:latin typeface="Arial Rounded MT Bold" panose="020F0704030504030204" pitchFamily="34" charset="77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5520EB-0F65-403D-A973-B17B2A4C2E9D}"/>
              </a:ext>
            </a:extLst>
          </p:cNvPr>
          <p:cNvSpPr txBox="1"/>
          <p:nvPr/>
        </p:nvSpPr>
        <p:spPr>
          <a:xfrm>
            <a:off x="19905935" y="30123113"/>
            <a:ext cx="47708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Arial" panose="020B0604020202020204" pitchFamily="34" charset="0"/>
              </a:rPr>
              <a:t>Scan 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Arial" panose="020B0604020202020204" pitchFamily="34" charset="0"/>
              </a:rPr>
              <a:t>to </a:t>
            </a: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Arial" panose="020B0604020202020204" pitchFamily="34" charset="0"/>
              </a:rPr>
              <a:t>view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Arial" panose="020B0604020202020204" pitchFamily="34" charset="0"/>
              </a:rPr>
              <a:t> the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Arial" panose="020B0604020202020204" pitchFamily="34" charset="0"/>
              </a:rPr>
              <a:t>project on GitHub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B70FBA-A2DF-453C-9792-CA6E8DB0D343}"/>
              </a:ext>
            </a:extLst>
          </p:cNvPr>
          <p:cNvCxnSpPr>
            <a:cxnSpLocks/>
          </p:cNvCxnSpPr>
          <p:nvPr/>
        </p:nvCxnSpPr>
        <p:spPr>
          <a:xfrm flipH="1">
            <a:off x="18223104" y="31277275"/>
            <a:ext cx="1297464" cy="0"/>
          </a:xfrm>
          <a:prstGeom prst="straightConnector1">
            <a:avLst/>
          </a:prstGeom>
          <a:ln w="66675"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BA4CF46-E210-4322-91D1-2A41779F64E4}"/>
              </a:ext>
            </a:extLst>
          </p:cNvPr>
          <p:cNvSpPr/>
          <p:nvPr/>
        </p:nvSpPr>
        <p:spPr>
          <a:xfrm>
            <a:off x="4697113" y="9405852"/>
            <a:ext cx="4682692" cy="1253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Arkesh Das</a:t>
            </a:r>
            <a:endParaRPr kumimoji="0" lang="en-US" sz="7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C155C6-7E35-4156-B9B3-271571AF60CC}"/>
              </a:ext>
            </a:extLst>
          </p:cNvPr>
          <p:cNvSpPr txBox="1"/>
          <p:nvPr/>
        </p:nvSpPr>
        <p:spPr>
          <a:xfrm>
            <a:off x="844159" y="679775"/>
            <a:ext cx="123886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Measles is Back:</a:t>
            </a:r>
            <a:br>
              <a:rPr kumimoji="0" lang="en-US" sz="11500" b="0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11500" b="0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A Data-Driven Look at Vaccination Gaps in the U.S.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B62BF9C0-8774-4458-8210-ACA4788001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410697" y="20542687"/>
            <a:ext cx="12223692" cy="8149128"/>
          </a:xfrm>
          <a:prstGeom prst="rect">
            <a:avLst/>
          </a:prstGeom>
        </p:spPr>
      </p:pic>
      <p:sp>
        <p:nvSpPr>
          <p:cNvPr id="23" name="Graphic 18">
            <a:extLst>
              <a:ext uri="{FF2B5EF4-FFF2-40B4-BE49-F238E27FC236}">
                <a16:creationId xmlns:a16="http://schemas.microsoft.com/office/drawing/2014/main" id="{1B355378-8069-4F41-9F33-76FF52B1D680}"/>
              </a:ext>
            </a:extLst>
          </p:cNvPr>
          <p:cNvSpPr/>
          <p:nvPr/>
        </p:nvSpPr>
        <p:spPr>
          <a:xfrm>
            <a:off x="40636456" y="25584006"/>
            <a:ext cx="360430" cy="335196"/>
          </a:xfrm>
          <a:custGeom>
            <a:avLst/>
            <a:gdLst>
              <a:gd name="connsiteX0" fmla="*/ 310594 w 327663"/>
              <a:gd name="connsiteY0" fmla="*/ 219906 h 335196"/>
              <a:gd name="connsiteX1" fmla="*/ 246568 w 327663"/>
              <a:gd name="connsiteY1" fmla="*/ 176217 h 335196"/>
              <a:gd name="connsiteX2" fmla="*/ 212295 w 327663"/>
              <a:gd name="connsiteY2" fmla="*/ 176217 h 335196"/>
              <a:gd name="connsiteX3" fmla="*/ 165217 w 327663"/>
              <a:gd name="connsiteY3" fmla="*/ 189022 h 335196"/>
              <a:gd name="connsiteX4" fmla="*/ 118138 w 327663"/>
              <a:gd name="connsiteY4" fmla="*/ 176217 h 335196"/>
              <a:gd name="connsiteX5" fmla="*/ 83866 w 327663"/>
              <a:gd name="connsiteY5" fmla="*/ 176217 h 335196"/>
              <a:gd name="connsiteX6" fmla="*/ 19839 w 327663"/>
              <a:gd name="connsiteY6" fmla="*/ 219906 h 335196"/>
              <a:gd name="connsiteX7" fmla="*/ 1385 w 327663"/>
              <a:gd name="connsiteY7" fmla="*/ 299750 h 335196"/>
              <a:gd name="connsiteX8" fmla="*/ 165970 w 327663"/>
              <a:gd name="connsiteY8" fmla="*/ 335529 h 335196"/>
              <a:gd name="connsiteX9" fmla="*/ 329802 w 327663"/>
              <a:gd name="connsiteY9" fmla="*/ 299750 h 335196"/>
              <a:gd name="connsiteX10" fmla="*/ 310594 w 327663"/>
              <a:gd name="connsiteY10" fmla="*/ 219906 h 335196"/>
              <a:gd name="connsiteX11" fmla="*/ 165593 w 327663"/>
              <a:gd name="connsiteY11" fmla="*/ 154749 h 335196"/>
              <a:gd name="connsiteX12" fmla="*/ 242425 w 327663"/>
              <a:gd name="connsiteY12" fmla="*/ 77918 h 335196"/>
              <a:gd name="connsiteX13" fmla="*/ 165593 w 327663"/>
              <a:gd name="connsiteY13" fmla="*/ 1086 h 335196"/>
              <a:gd name="connsiteX14" fmla="*/ 88762 w 327663"/>
              <a:gd name="connsiteY14" fmla="*/ 77918 h 335196"/>
              <a:gd name="connsiteX15" fmla="*/ 165593 w 327663"/>
              <a:gd name="connsiteY15" fmla="*/ 154749 h 33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27663" h="335196">
                <a:moveTo>
                  <a:pt x="310594" y="219906"/>
                </a:moveTo>
                <a:cubicBezTo>
                  <a:pt x="287243" y="179983"/>
                  <a:pt x="246568" y="176217"/>
                  <a:pt x="246568" y="176217"/>
                </a:cubicBezTo>
                <a:lnTo>
                  <a:pt x="212295" y="176217"/>
                </a:lnTo>
                <a:cubicBezTo>
                  <a:pt x="198360" y="184126"/>
                  <a:pt x="182541" y="189022"/>
                  <a:pt x="165217" y="189022"/>
                </a:cubicBezTo>
                <a:cubicBezTo>
                  <a:pt x="147892" y="189022"/>
                  <a:pt x="132074" y="184503"/>
                  <a:pt x="118138" y="176217"/>
                </a:cubicBezTo>
                <a:lnTo>
                  <a:pt x="83866" y="176217"/>
                </a:lnTo>
                <a:cubicBezTo>
                  <a:pt x="83866" y="176217"/>
                  <a:pt x="43190" y="179983"/>
                  <a:pt x="19839" y="219906"/>
                </a:cubicBezTo>
                <a:cubicBezTo>
                  <a:pt x="-2758" y="259828"/>
                  <a:pt x="1385" y="299750"/>
                  <a:pt x="1385" y="299750"/>
                </a:cubicBezTo>
                <a:cubicBezTo>
                  <a:pt x="1385" y="299750"/>
                  <a:pt x="37164" y="335529"/>
                  <a:pt x="165970" y="335529"/>
                </a:cubicBezTo>
                <a:cubicBezTo>
                  <a:pt x="294776" y="335529"/>
                  <a:pt x="329802" y="299750"/>
                  <a:pt x="329802" y="299750"/>
                </a:cubicBezTo>
                <a:cubicBezTo>
                  <a:pt x="329802" y="299750"/>
                  <a:pt x="333945" y="259828"/>
                  <a:pt x="310594" y="219906"/>
                </a:cubicBezTo>
                <a:close/>
                <a:moveTo>
                  <a:pt x="165593" y="154749"/>
                </a:moveTo>
                <a:cubicBezTo>
                  <a:pt x="208152" y="154749"/>
                  <a:pt x="242425" y="120477"/>
                  <a:pt x="242425" y="77918"/>
                </a:cubicBezTo>
                <a:cubicBezTo>
                  <a:pt x="242425" y="35359"/>
                  <a:pt x="208152" y="1086"/>
                  <a:pt x="165593" y="1086"/>
                </a:cubicBezTo>
                <a:cubicBezTo>
                  <a:pt x="123035" y="1086"/>
                  <a:pt x="88762" y="35736"/>
                  <a:pt x="88762" y="77918"/>
                </a:cubicBezTo>
                <a:cubicBezTo>
                  <a:pt x="88762" y="120477"/>
                  <a:pt x="123035" y="154749"/>
                  <a:pt x="165593" y="154749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6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C988AD-FB82-4850-84BE-0F496EB3BDC0}"/>
              </a:ext>
            </a:extLst>
          </p:cNvPr>
          <p:cNvSpPr/>
          <p:nvPr/>
        </p:nvSpPr>
        <p:spPr>
          <a:xfrm>
            <a:off x="20708991" y="29685166"/>
            <a:ext cx="246888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Visualize your findings with an image, graphic, or a key figure.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028" name="Picture 4" descr="MSU Trademarks | University Trademarks and Licensing ...">
            <a:extLst>
              <a:ext uri="{FF2B5EF4-FFF2-40B4-BE49-F238E27FC236}">
                <a16:creationId xmlns:a16="http://schemas.microsoft.com/office/drawing/2014/main" id="{027B947A-3271-E910-CB43-491BAD171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accent5">
                <a:lumMod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000" b="95667" l="3600" r="94800">
                        <a14:foregroundMark x1="30400" y1="20000" x2="30400" y2="20000"/>
                        <a14:foregroundMark x1="80800" y1="91333" x2="80800" y2="91333"/>
                        <a14:foregroundMark x1="84400" y1="95667" x2="84400" y2="95667"/>
                        <a14:foregroundMark x1="90400" y1="71333" x2="90400" y2="71333"/>
                        <a14:foregroundMark x1="94800" y1="73667" x2="94800" y2="73667"/>
                        <a14:foregroundMark x1="3600" y1="45667" x2="3600" y2="45667"/>
                        <a14:foregroundMark x1="24000" y1="48000" x2="24000" y2="48000"/>
                        <a14:foregroundMark x1="21600" y1="54333" x2="21600" y2="54333"/>
                        <a14:foregroundMark x1="28400" y1="43000" x2="28400" y2="43000"/>
                        <a14:foregroundMark x1="32800" y1="39333" x2="32800" y2="39333"/>
                        <a14:foregroundMark x1="37600" y1="35667" x2="37600" y2="35667"/>
                        <a14:foregroundMark x1="50400" y1="31333" x2="50400" y2="31333"/>
                        <a14:foregroundMark x1="56800" y1="29000" x2="56800" y2="29000"/>
                        <a14:foregroundMark x1="42800" y1="31333" x2="42800" y2="31333"/>
                        <a14:foregroundMark x1="62000" y1="6000" x2="62000" y2="6000"/>
                        <a14:backgroundMark x1="24000" y1="49000" x2="24000" y2="49000"/>
                        <a14:backgroundMark x1="23600" y1="49000" x2="23600" y2="49000"/>
                        <a14:backgroundMark x1="23600" y1="49000" x2="23600" y2="49000"/>
                        <a14:backgroundMark x1="23600" y1="48667" x2="23600" y2="48667"/>
                        <a14:backgroundMark x1="24000" y1="48667" x2="24000" y2="48667"/>
                        <a14:backgroundMark x1="23600" y1="48333" x2="23600" y2="48333"/>
                        <a14:backgroundMark x1="41600" y1="34667" x2="41600" y2="34667"/>
                        <a14:backgroundMark x1="41600" y1="34000" x2="41600" y2="34000"/>
                        <a14:backgroundMark x1="69600" y1="27000" x2="69600" y2="27000"/>
                        <a14:backgroundMark x1="83600" y1="96667" x2="83600" y2="96667"/>
                        <a14:backgroundMark x1="84000" y1="96333" x2="84000" y2="96333"/>
                        <a14:backgroundMark x1="84400" y1="96667" x2="84400" y2="96667"/>
                        <a14:backgroundMark x1="84400" y1="96333" x2="84400" y2="96333"/>
                        <a14:backgroundMark x1="83600" y1="96000" x2="83600" y2="96000"/>
                        <a14:backgroundMark x1="94400" y1="74667" x2="94400" y2="7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6588" y="27698463"/>
            <a:ext cx="3954365" cy="474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F3EAE9-9C21-7EB7-BD59-E4721BF72C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50591" y="28918178"/>
            <a:ext cx="3988781" cy="39346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F039885-CE44-80E0-C9B6-0FAE3F1B8F4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701" t="7162" r="3152" b="25229"/>
          <a:stretch>
            <a:fillRect/>
          </a:stretch>
        </p:blipFill>
        <p:spPr>
          <a:xfrm>
            <a:off x="1079107" y="8948398"/>
            <a:ext cx="2167945" cy="2167945"/>
          </a:xfrm>
          <a:prstGeom prst="rect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7225609-5377-1820-22EC-E2495F5E1FB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60838" y="12172968"/>
            <a:ext cx="13206869" cy="610003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31DDCF4-AEFF-F809-8A07-635B7C650492}"/>
              </a:ext>
            </a:extLst>
          </p:cNvPr>
          <p:cNvSpPr txBox="1"/>
          <p:nvPr/>
        </p:nvSpPr>
        <p:spPr>
          <a:xfrm>
            <a:off x="268455" y="18745096"/>
            <a:ext cx="1320686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77"/>
              </a:rPr>
              <a:t>While measles is declining globally and across Europe, the United States is seeing a renewed increase.</a:t>
            </a:r>
            <a:endParaRPr lang="en-US" sz="5000" dirty="0">
              <a:solidFill>
                <a:schemeClr val="bg1">
                  <a:lumMod val="95000"/>
                </a:schemeClr>
              </a:solidFill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99835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1C357-D9BB-60F5-0B22-7A79BC7E2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9E1C28-A29B-B9BF-97C9-57588C2E8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49" b="93552" l="7880" r="90127">
                        <a14:foregroundMark x1="50362" y1="93552" x2="50362" y2="93552"/>
                        <a14:foregroundMark x1="90127" y1="52877" x2="90127" y2="52877"/>
                        <a14:foregroundMark x1="7971" y1="52381" x2="7971" y2="52381"/>
                        <a14:foregroundMark x1="45652" y1="6349" x2="45652" y2="6349"/>
                      </a14:backgroundRemoval>
                    </a14:imgEffect>
                  </a14:imgLayer>
                </a14:imgProps>
              </a:ext>
            </a:extLst>
          </a:blip>
          <a:srcRect l="8934" t="61068" r="9518"/>
          <a:stretch>
            <a:fillRect/>
          </a:stretch>
        </p:blipFill>
        <p:spPr>
          <a:xfrm>
            <a:off x="0" y="0"/>
            <a:ext cx="49377600" cy="2152326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93D5F72-68A4-ED00-6FE6-40AEBA6D4404}"/>
              </a:ext>
            </a:extLst>
          </p:cNvPr>
          <p:cNvSpPr/>
          <p:nvPr/>
        </p:nvSpPr>
        <p:spPr>
          <a:xfrm>
            <a:off x="39353019" y="0"/>
            <a:ext cx="9985073" cy="329184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Lato" panose="020F0502020204030203" pitchFamily="34" charset="0"/>
            </a:endParaRPr>
          </a:p>
        </p:txBody>
      </p:sp>
      <p:sp>
        <p:nvSpPr>
          <p:cNvPr id="12" name="silent presenter">
            <a:extLst>
              <a:ext uri="{FF2B5EF4-FFF2-40B4-BE49-F238E27FC236}">
                <a16:creationId xmlns:a16="http://schemas.microsoft.com/office/drawing/2014/main" id="{76186862-68A0-1F9A-0986-8DEA6A1938FC}"/>
              </a:ext>
            </a:extLst>
          </p:cNvPr>
          <p:cNvSpPr/>
          <p:nvPr/>
        </p:nvSpPr>
        <p:spPr>
          <a:xfrm>
            <a:off x="-1" y="1508760"/>
            <a:ext cx="11571511" cy="329184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1844F5-38A8-2697-E45F-6E5FDB1219AE}"/>
              </a:ext>
            </a:extLst>
          </p:cNvPr>
          <p:cNvSpPr/>
          <p:nvPr/>
        </p:nvSpPr>
        <p:spPr>
          <a:xfrm>
            <a:off x="0" y="8581621"/>
            <a:ext cx="11571510" cy="2876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CD963B-4DD9-7807-7B47-29641E70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91018" y="448463"/>
            <a:ext cx="25976634" cy="10767172"/>
          </a:xfrm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2500" dirty="0">
                <a:solidFill>
                  <a:schemeClr val="bg1"/>
                </a:solidFill>
                <a:latin typeface="Arial Rounded MT Bold" panose="020F0704030504030204" pitchFamily="34" charset="77"/>
                <a:ea typeface="Segoe UI Black" panose="020B0A02040204020203" pitchFamily="34" charset="0"/>
                <a:cs typeface="Arial" panose="020B0604020202020204" pitchFamily="34" charset="0"/>
              </a:rPr>
              <a:t>Measles</a:t>
            </a:r>
            <a:r>
              <a:rPr lang="en-US" sz="12500" dirty="0">
                <a:solidFill>
                  <a:schemeClr val="bg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 is </a:t>
            </a:r>
            <a:r>
              <a:rPr lang="en-US" sz="12500" dirty="0">
                <a:solidFill>
                  <a:schemeClr val="bg1"/>
                </a:solidFill>
                <a:latin typeface="Arial Rounded MT Bold" panose="020F0704030504030204" pitchFamily="34" charset="77"/>
                <a:ea typeface="Segoe UI Black" panose="020B0A02040204020203" pitchFamily="34" charset="0"/>
                <a:cs typeface="Arial" panose="020B0604020202020204" pitchFamily="34" charset="0"/>
              </a:rPr>
              <a:t>re-emerging</a:t>
            </a:r>
            <a:r>
              <a:rPr lang="en-US" sz="12500" dirty="0">
                <a:solidFill>
                  <a:schemeClr val="bg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 where vaccination coverage drops and we need to </a:t>
            </a:r>
            <a:r>
              <a:rPr lang="en-US" sz="12500" dirty="0">
                <a:solidFill>
                  <a:schemeClr val="bg1"/>
                </a:solidFill>
                <a:latin typeface="Arial Rounded MT Bold" panose="020F0704030504030204" pitchFamily="34" charset="77"/>
                <a:ea typeface="Segoe UI Black" panose="020B0A02040204020203" pitchFamily="34" charset="0"/>
                <a:cs typeface="Arial" panose="020B0604020202020204" pitchFamily="34" charset="0"/>
              </a:rPr>
              <a:t>do something about it.</a:t>
            </a:r>
            <a:endParaRPr lang="en-US" sz="12500" dirty="0">
              <a:solidFill>
                <a:schemeClr val="bg1"/>
              </a:solidFill>
              <a:latin typeface="Arial Rounded MT Bold" panose="020F0704030504030204" pitchFamily="34" charset="77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84D19-AB1E-57EA-CA6B-CA39557235CB}"/>
              </a:ext>
            </a:extLst>
          </p:cNvPr>
          <p:cNvSpPr txBox="1"/>
          <p:nvPr/>
        </p:nvSpPr>
        <p:spPr>
          <a:xfrm>
            <a:off x="1010509" y="12822781"/>
            <a:ext cx="9563989" cy="199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BACKGROUND: Who cares?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 Explain why your study matters in the fastest, most brutal way possible (feel free to add graphics!).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METHODS</a:t>
            </a:r>
          </a:p>
          <a:p>
            <a:pPr marL="742950" marR="0" lvl="0" indent="-7429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Collected [what] from [population]</a:t>
            </a:r>
          </a:p>
          <a:p>
            <a:pPr marL="742950" marR="0" lvl="0" indent="-7429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Tested it with X process.</a:t>
            </a:r>
          </a:p>
          <a:p>
            <a:pPr marL="742950" marR="0" lvl="0" indent="-7429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Illustrate your methods if you can.</a:t>
            </a:r>
          </a:p>
          <a:p>
            <a:pPr marL="742950" marR="0" lvl="0" indent="-7429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Try a flowchart!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RESULTS</a:t>
            </a:r>
          </a:p>
          <a:p>
            <a:pPr marL="571500" marR="0" lvl="0" indent="-5715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Graph/table with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essential results only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.</a:t>
            </a:r>
          </a:p>
          <a:p>
            <a:pPr marL="571500" marR="0" lvl="0" indent="-5715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All the other correlations in the ammo bar.</a:t>
            </a:r>
          </a:p>
          <a:p>
            <a:pPr marL="571500" marR="0" lvl="0" indent="-5715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571500" marR="0" lvl="0" indent="-5715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5830E-7FD5-73B3-DD6F-E7259F73C86A}"/>
              </a:ext>
            </a:extLst>
          </p:cNvPr>
          <p:cNvSpPr txBox="1"/>
          <p:nvPr/>
        </p:nvSpPr>
        <p:spPr>
          <a:xfrm>
            <a:off x="40636456" y="1831671"/>
            <a:ext cx="7662037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AMMO BAR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Delete this and replace it with your…</a:t>
            </a:r>
          </a:p>
          <a:p>
            <a:pPr marL="114300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Extra Graphs</a:t>
            </a:r>
          </a:p>
          <a:p>
            <a:pPr marL="114300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Extra Correlation tables</a:t>
            </a:r>
          </a:p>
          <a:p>
            <a:pPr marL="114300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Extra Figures</a:t>
            </a:r>
          </a:p>
          <a:p>
            <a:pPr marL="114300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Extra nuance that you’re worried about leaving out.</a:t>
            </a:r>
          </a:p>
          <a:p>
            <a:pPr marL="1143000" marR="0" lvl="0" indent="-1143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Keep it messy!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 This section is just for you.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14638D-9136-58D9-301E-937F7E21EA55}"/>
              </a:ext>
            </a:extLst>
          </p:cNvPr>
          <p:cNvSpPr txBox="1"/>
          <p:nvPr/>
        </p:nvSpPr>
        <p:spPr>
          <a:xfrm>
            <a:off x="17619935" y="30123113"/>
            <a:ext cx="47708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Arial" panose="020B0604020202020204" pitchFamily="34" charset="0"/>
              </a:rPr>
              <a:t>Scan 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Arial" panose="020B0604020202020204" pitchFamily="34" charset="0"/>
              </a:rPr>
              <a:t>to </a:t>
            </a: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Arial" panose="020B0604020202020204" pitchFamily="34" charset="0"/>
              </a:rPr>
              <a:t>view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Arial" panose="020B0604020202020204" pitchFamily="34" charset="0"/>
              </a:rPr>
              <a:t> the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Arial" panose="020B0604020202020204" pitchFamily="34" charset="0"/>
              </a:rPr>
              <a:t>project on GitHub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4BBB10-7404-CD8B-7AC9-5E64B3FC50B7}"/>
              </a:ext>
            </a:extLst>
          </p:cNvPr>
          <p:cNvCxnSpPr>
            <a:cxnSpLocks/>
          </p:cNvCxnSpPr>
          <p:nvPr/>
        </p:nvCxnSpPr>
        <p:spPr>
          <a:xfrm flipH="1">
            <a:off x="15937104" y="31277275"/>
            <a:ext cx="1297464" cy="0"/>
          </a:xfrm>
          <a:prstGeom prst="straightConnector1">
            <a:avLst/>
          </a:prstGeom>
          <a:ln w="66675"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C94074A-F47E-60B3-79FB-2EF38A3C1448}"/>
              </a:ext>
            </a:extLst>
          </p:cNvPr>
          <p:cNvSpPr/>
          <p:nvPr/>
        </p:nvSpPr>
        <p:spPr>
          <a:xfrm>
            <a:off x="4684422" y="9863308"/>
            <a:ext cx="4682692" cy="1253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Arkesh Das</a:t>
            </a:r>
            <a:endParaRPr kumimoji="0" lang="en-US" sz="7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F07C56-774C-EC58-97F9-8F84D6D0790A}"/>
              </a:ext>
            </a:extLst>
          </p:cNvPr>
          <p:cNvSpPr txBox="1"/>
          <p:nvPr/>
        </p:nvSpPr>
        <p:spPr>
          <a:xfrm>
            <a:off x="1079107" y="1024849"/>
            <a:ext cx="9563989" cy="7402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Measles is Back:</a:t>
            </a:r>
            <a:br>
              <a:rPr kumimoji="0" lang="en-US" sz="95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95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A Data-Driven Look at Vaccination Gaps in the U.S.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0A198DD9-19BB-E864-5E92-C2D3623FEC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410697" y="20542687"/>
            <a:ext cx="12223692" cy="81491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6080324-5352-4B33-9E83-8ADFAC948B00}"/>
              </a:ext>
            </a:extLst>
          </p:cNvPr>
          <p:cNvSpPr txBox="1"/>
          <p:nvPr/>
        </p:nvSpPr>
        <p:spPr>
          <a:xfrm>
            <a:off x="41128190" y="25382839"/>
            <a:ext cx="75173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Leeroy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Jenkins, author2, 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author3, author4, author5, author6, author7, author42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3" name="Graphic 18">
            <a:extLst>
              <a:ext uri="{FF2B5EF4-FFF2-40B4-BE49-F238E27FC236}">
                <a16:creationId xmlns:a16="http://schemas.microsoft.com/office/drawing/2014/main" id="{1F4B0229-B515-A6B8-96C8-0125C7B99056}"/>
              </a:ext>
            </a:extLst>
          </p:cNvPr>
          <p:cNvSpPr/>
          <p:nvPr/>
        </p:nvSpPr>
        <p:spPr>
          <a:xfrm>
            <a:off x="40636456" y="25584006"/>
            <a:ext cx="360430" cy="335196"/>
          </a:xfrm>
          <a:custGeom>
            <a:avLst/>
            <a:gdLst>
              <a:gd name="connsiteX0" fmla="*/ 310594 w 327663"/>
              <a:gd name="connsiteY0" fmla="*/ 219906 h 335196"/>
              <a:gd name="connsiteX1" fmla="*/ 246568 w 327663"/>
              <a:gd name="connsiteY1" fmla="*/ 176217 h 335196"/>
              <a:gd name="connsiteX2" fmla="*/ 212295 w 327663"/>
              <a:gd name="connsiteY2" fmla="*/ 176217 h 335196"/>
              <a:gd name="connsiteX3" fmla="*/ 165217 w 327663"/>
              <a:gd name="connsiteY3" fmla="*/ 189022 h 335196"/>
              <a:gd name="connsiteX4" fmla="*/ 118138 w 327663"/>
              <a:gd name="connsiteY4" fmla="*/ 176217 h 335196"/>
              <a:gd name="connsiteX5" fmla="*/ 83866 w 327663"/>
              <a:gd name="connsiteY5" fmla="*/ 176217 h 335196"/>
              <a:gd name="connsiteX6" fmla="*/ 19839 w 327663"/>
              <a:gd name="connsiteY6" fmla="*/ 219906 h 335196"/>
              <a:gd name="connsiteX7" fmla="*/ 1385 w 327663"/>
              <a:gd name="connsiteY7" fmla="*/ 299750 h 335196"/>
              <a:gd name="connsiteX8" fmla="*/ 165970 w 327663"/>
              <a:gd name="connsiteY8" fmla="*/ 335529 h 335196"/>
              <a:gd name="connsiteX9" fmla="*/ 329802 w 327663"/>
              <a:gd name="connsiteY9" fmla="*/ 299750 h 335196"/>
              <a:gd name="connsiteX10" fmla="*/ 310594 w 327663"/>
              <a:gd name="connsiteY10" fmla="*/ 219906 h 335196"/>
              <a:gd name="connsiteX11" fmla="*/ 165593 w 327663"/>
              <a:gd name="connsiteY11" fmla="*/ 154749 h 335196"/>
              <a:gd name="connsiteX12" fmla="*/ 242425 w 327663"/>
              <a:gd name="connsiteY12" fmla="*/ 77918 h 335196"/>
              <a:gd name="connsiteX13" fmla="*/ 165593 w 327663"/>
              <a:gd name="connsiteY13" fmla="*/ 1086 h 335196"/>
              <a:gd name="connsiteX14" fmla="*/ 88762 w 327663"/>
              <a:gd name="connsiteY14" fmla="*/ 77918 h 335196"/>
              <a:gd name="connsiteX15" fmla="*/ 165593 w 327663"/>
              <a:gd name="connsiteY15" fmla="*/ 154749 h 33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27663" h="335196">
                <a:moveTo>
                  <a:pt x="310594" y="219906"/>
                </a:moveTo>
                <a:cubicBezTo>
                  <a:pt x="287243" y="179983"/>
                  <a:pt x="246568" y="176217"/>
                  <a:pt x="246568" y="176217"/>
                </a:cubicBezTo>
                <a:lnTo>
                  <a:pt x="212295" y="176217"/>
                </a:lnTo>
                <a:cubicBezTo>
                  <a:pt x="198360" y="184126"/>
                  <a:pt x="182541" y="189022"/>
                  <a:pt x="165217" y="189022"/>
                </a:cubicBezTo>
                <a:cubicBezTo>
                  <a:pt x="147892" y="189022"/>
                  <a:pt x="132074" y="184503"/>
                  <a:pt x="118138" y="176217"/>
                </a:cubicBezTo>
                <a:lnTo>
                  <a:pt x="83866" y="176217"/>
                </a:lnTo>
                <a:cubicBezTo>
                  <a:pt x="83866" y="176217"/>
                  <a:pt x="43190" y="179983"/>
                  <a:pt x="19839" y="219906"/>
                </a:cubicBezTo>
                <a:cubicBezTo>
                  <a:pt x="-2758" y="259828"/>
                  <a:pt x="1385" y="299750"/>
                  <a:pt x="1385" y="299750"/>
                </a:cubicBezTo>
                <a:cubicBezTo>
                  <a:pt x="1385" y="299750"/>
                  <a:pt x="37164" y="335529"/>
                  <a:pt x="165970" y="335529"/>
                </a:cubicBezTo>
                <a:cubicBezTo>
                  <a:pt x="294776" y="335529"/>
                  <a:pt x="329802" y="299750"/>
                  <a:pt x="329802" y="299750"/>
                </a:cubicBezTo>
                <a:cubicBezTo>
                  <a:pt x="329802" y="299750"/>
                  <a:pt x="333945" y="259828"/>
                  <a:pt x="310594" y="219906"/>
                </a:cubicBezTo>
                <a:close/>
                <a:moveTo>
                  <a:pt x="165593" y="154749"/>
                </a:moveTo>
                <a:cubicBezTo>
                  <a:pt x="208152" y="154749"/>
                  <a:pt x="242425" y="120477"/>
                  <a:pt x="242425" y="77918"/>
                </a:cubicBezTo>
                <a:cubicBezTo>
                  <a:pt x="242425" y="35359"/>
                  <a:pt x="208152" y="1086"/>
                  <a:pt x="165593" y="1086"/>
                </a:cubicBezTo>
                <a:cubicBezTo>
                  <a:pt x="123035" y="1086"/>
                  <a:pt x="88762" y="35736"/>
                  <a:pt x="88762" y="77918"/>
                </a:cubicBezTo>
                <a:cubicBezTo>
                  <a:pt x="88762" y="120477"/>
                  <a:pt x="123035" y="154749"/>
                  <a:pt x="165593" y="154749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6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A8BFF5-F043-15ED-074E-0ADA7564CBD2}"/>
              </a:ext>
            </a:extLst>
          </p:cNvPr>
          <p:cNvSpPr/>
          <p:nvPr/>
        </p:nvSpPr>
        <p:spPr>
          <a:xfrm>
            <a:off x="20708991" y="29685166"/>
            <a:ext cx="246888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Segoe UI" panose="020B0502040204020203" pitchFamily="34" charset="0"/>
              </a:rPr>
              <a:t>Visualize your findings with an image, graphic, or a key figure.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028" name="Picture 4" descr="MSU Trademarks | University Trademarks and Licensing ...">
            <a:extLst>
              <a:ext uri="{FF2B5EF4-FFF2-40B4-BE49-F238E27FC236}">
                <a16:creationId xmlns:a16="http://schemas.microsoft.com/office/drawing/2014/main" id="{2543EE5C-17E6-EA4F-A1C8-9A421FD80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accent5">
                <a:lumMod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000" b="95667" l="3600" r="94800">
                        <a14:foregroundMark x1="30400" y1="20000" x2="30400" y2="20000"/>
                        <a14:foregroundMark x1="80800" y1="91333" x2="80800" y2="91333"/>
                        <a14:foregroundMark x1="84400" y1="95667" x2="84400" y2="95667"/>
                        <a14:foregroundMark x1="90400" y1="71333" x2="90400" y2="71333"/>
                        <a14:foregroundMark x1="94800" y1="73667" x2="94800" y2="73667"/>
                        <a14:foregroundMark x1="3600" y1="45667" x2="3600" y2="45667"/>
                        <a14:foregroundMark x1="24000" y1="48000" x2="24000" y2="48000"/>
                        <a14:foregroundMark x1="21600" y1="54333" x2="21600" y2="54333"/>
                        <a14:foregroundMark x1="28400" y1="43000" x2="28400" y2="43000"/>
                        <a14:foregroundMark x1="32800" y1="39333" x2="32800" y2="39333"/>
                        <a14:foregroundMark x1="37600" y1="35667" x2="37600" y2="35667"/>
                        <a14:foregroundMark x1="50400" y1="31333" x2="50400" y2="31333"/>
                        <a14:foregroundMark x1="56800" y1="29000" x2="56800" y2="29000"/>
                        <a14:foregroundMark x1="42800" y1="31333" x2="42800" y2="31333"/>
                        <a14:foregroundMark x1="62000" y1="6000" x2="62000" y2="6000"/>
                        <a14:backgroundMark x1="24000" y1="49000" x2="24000" y2="49000"/>
                        <a14:backgroundMark x1="23600" y1="49000" x2="23600" y2="49000"/>
                        <a14:backgroundMark x1="23600" y1="49000" x2="23600" y2="49000"/>
                        <a14:backgroundMark x1="23600" y1="48667" x2="23600" y2="48667"/>
                        <a14:backgroundMark x1="24000" y1="48667" x2="24000" y2="48667"/>
                        <a14:backgroundMark x1="23600" y1="48333" x2="23600" y2="48333"/>
                        <a14:backgroundMark x1="41600" y1="34667" x2="41600" y2="34667"/>
                        <a14:backgroundMark x1="41600" y1="34000" x2="41600" y2="34000"/>
                        <a14:backgroundMark x1="69600" y1="27000" x2="69600" y2="27000"/>
                        <a14:backgroundMark x1="83600" y1="96667" x2="83600" y2="96667"/>
                        <a14:backgroundMark x1="84000" y1="96333" x2="84000" y2="96333"/>
                        <a14:backgroundMark x1="84400" y1="96667" x2="84400" y2="96667"/>
                        <a14:backgroundMark x1="84400" y1="96333" x2="84400" y2="96333"/>
                        <a14:backgroundMark x1="83600" y1="96000" x2="83600" y2="96000"/>
                        <a14:backgroundMark x1="94400" y1="74667" x2="94400" y2="7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6588" y="27698463"/>
            <a:ext cx="3954365" cy="474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DFA5B7-A365-02DC-14A5-18083AA37B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64591" y="28918178"/>
            <a:ext cx="3988781" cy="39346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B52720-853D-0375-2167-5A3325AEAAB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701" t="7162" r="3152" b="25229"/>
          <a:stretch>
            <a:fillRect/>
          </a:stretch>
        </p:blipFill>
        <p:spPr>
          <a:xfrm>
            <a:off x="1079107" y="8948398"/>
            <a:ext cx="2167945" cy="2167945"/>
          </a:xfrm>
          <a:prstGeom prst="rect">
            <a:avLst/>
          </a:prstGeom>
          <a:ln w="38100">
            <a:solidFill>
              <a:schemeClr val="accent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6415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</TotalTime>
  <Words>495</Words>
  <Application>Microsoft Macintosh PowerPoint</Application>
  <PresentationFormat>Custom</PresentationFormat>
  <Paragraphs>60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Arial</vt:lpstr>
      <vt:lpstr>Arial Rounded MT Bold</vt:lpstr>
      <vt:lpstr>Calibri</vt:lpstr>
      <vt:lpstr>Calibri Light</vt:lpstr>
      <vt:lpstr>Lato</vt:lpstr>
      <vt:lpstr>Lato Black</vt:lpstr>
      <vt:lpstr>Office Theme</vt:lpstr>
      <vt:lpstr>Measles is re-emerging where vaccination coverage drops and we need to do something about it.</vt:lpstr>
      <vt:lpstr>Measles is re-emerging where vaccination coverage drops and we need to do something about 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Das, Arkesh</dc:creator>
  <cp:lastModifiedBy>Das, Arkesh</cp:lastModifiedBy>
  <cp:revision>2</cp:revision>
  <dcterms:created xsi:type="dcterms:W3CDTF">2026-04-09T17:18:54Z</dcterms:created>
  <dcterms:modified xsi:type="dcterms:W3CDTF">2026-04-09T18:31:56Z</dcterms:modified>
</cp:coreProperties>
</file>