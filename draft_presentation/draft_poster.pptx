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5"/>
  </p:notesMasterIdLst>
  <p:sldIdLst>
    <p:sldId id="307" r:id="rId2"/>
    <p:sldId id="308" r:id="rId3"/>
    <p:sldId id="306" r:id="rId4"/>
  </p:sldIdLst>
  <p:sldSz cx="493776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87"/>
  </p:normalViewPr>
  <p:slideViewPr>
    <p:cSldViewPr snapToGrid="0">
      <p:cViewPr>
        <p:scale>
          <a:sx n="27" d="100"/>
          <a:sy n="27" d="100"/>
        </p:scale>
        <p:origin x="760" y="-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63C06F-E095-F145-85C3-E8ED00EA93A6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75399E-1845-DA46-A22A-438FFA275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90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1pPr>
    <a:lvl2pPr marL="1975104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2pPr>
    <a:lvl3pPr marL="3950208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3pPr>
    <a:lvl4pPr marL="5925312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4pPr>
    <a:lvl5pPr marL="7900416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5pPr>
    <a:lvl6pPr marL="9875520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6pPr>
    <a:lvl7pPr marL="11850624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7pPr>
    <a:lvl8pPr marL="13825728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8pPr>
    <a:lvl9pPr marL="15800832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Powerpoint</a:t>
            </a:r>
            <a:r>
              <a:rPr lang="en-US" dirty="0"/>
              <a:t>, click View &gt; Guides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Keep text within gutter guides.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Author list: Don’t split names onto two lines (e.g., “Jimmy [break] Smith”). If that happens, use a new line, unless you need the space. </a:t>
            </a:r>
            <a:r>
              <a:rPr lang="en-US" b="1" dirty="0"/>
              <a:t>Bold the first names of anybody who’s presenting</a:t>
            </a:r>
            <a:r>
              <a:rPr lang="en-US" dirty="0"/>
              <a:t> in person.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Intro/methods/result: </a:t>
            </a:r>
            <a:r>
              <a:rPr lang="en-US" b="1" dirty="0"/>
              <a:t>Do not drop below font size 28</a:t>
            </a:r>
            <a:r>
              <a:rPr lang="en-US" dirty="0"/>
              <a:t>, but if you have extra space, jack up the font size until the space is full.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Do not use color in the sidebars except in graphs/figures. It’ll pull attention from the center and slow interpretation for passersby.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6C2670-3342-473C-969D-FDFF399F20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20038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5A4CB-4373-C8E9-B917-1AA78D70B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648B3-6D23-32CD-6664-AAA29BB0FC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2DA75-B89B-4EFB-6D56-3B3AB244C7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Powerpoint</a:t>
            </a:r>
            <a:r>
              <a:rPr lang="en-US" dirty="0"/>
              <a:t>, click View &gt; Guides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Keep text within gutter guides.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Author list: Don’t split names onto two lines (e.g., “Jimmy [break] Smith”). If that happens, use a new line, unless you need the space. </a:t>
            </a:r>
            <a:r>
              <a:rPr lang="en-US" b="1" dirty="0"/>
              <a:t>Bold the first names of anybody who’s presenting</a:t>
            </a:r>
            <a:r>
              <a:rPr lang="en-US" dirty="0"/>
              <a:t> in person.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Intro/methods/result: </a:t>
            </a:r>
            <a:r>
              <a:rPr lang="en-US" b="1" dirty="0"/>
              <a:t>Do not drop below font size 28</a:t>
            </a:r>
            <a:r>
              <a:rPr lang="en-US" dirty="0"/>
              <a:t>, but if you have extra space, jack up the font size until the space is full.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Do not use color in the sidebars except in graphs/figures. It’ll pull attention from the center and slow interpretation for passersby.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A2BCB-5120-067D-CF11-E98E92863E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6C2670-3342-473C-969D-FDFF399F20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3891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Powerpoint</a:t>
            </a:r>
            <a:r>
              <a:rPr lang="en-US" dirty="0"/>
              <a:t>, click View &gt; Guides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Keep text within gutter guides.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Author list: Don’t split names onto two lines (e.g., “Jimmy [break] Smith”). If that happens, use a new line, unless you need the space. </a:t>
            </a:r>
            <a:r>
              <a:rPr lang="en-US" b="1" dirty="0"/>
              <a:t>Bold the first names of anybody who’s presenting</a:t>
            </a:r>
            <a:r>
              <a:rPr lang="en-US" dirty="0"/>
              <a:t> in person.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Intro/methods/result: </a:t>
            </a:r>
            <a:r>
              <a:rPr lang="en-US" b="1" dirty="0"/>
              <a:t>Do not drop below font size 28</a:t>
            </a:r>
            <a:r>
              <a:rPr lang="en-US" dirty="0"/>
              <a:t>, but if you have extra space, jack up the font size until the space is full.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Do not use color in the sidebars except in graphs/figures. It’ll pull attention from the center and slow interpretation for passersby.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6C2670-3342-473C-969D-FDFF399F20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2003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03320" y="5387342"/>
            <a:ext cx="4197096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72200" y="17289782"/>
            <a:ext cx="370332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980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27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8995" y="8206749"/>
            <a:ext cx="4258818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68995" y="22029429"/>
            <a:ext cx="4258818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/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37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94710" y="8763000"/>
            <a:ext cx="2098548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997410" y="8763000"/>
            <a:ext cx="2098548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64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1" y="1752607"/>
            <a:ext cx="425881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01147" y="8069582"/>
            <a:ext cx="20889036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01147" y="12024360"/>
            <a:ext cx="20889036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997413" y="8069582"/>
            <a:ext cx="20991911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997413" y="12024360"/>
            <a:ext cx="20991911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356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814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69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2" y="2194560"/>
            <a:ext cx="15925561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91911" y="4739647"/>
            <a:ext cx="2499741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1142" y="9875520"/>
            <a:ext cx="15925561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606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2" y="2194560"/>
            <a:ext cx="15925561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991911" y="4739647"/>
            <a:ext cx="2499741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1142" y="9875520"/>
            <a:ext cx="15925561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474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59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335848" y="1752600"/>
            <a:ext cx="10647045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94713" y="1752600"/>
            <a:ext cx="31323915" cy="27896822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8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94710" y="1752607"/>
            <a:ext cx="425881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94710" y="8763000"/>
            <a:ext cx="425881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9471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35061-2F74-46D4-9F8F-C77EF304855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56330" y="30510487"/>
            <a:ext cx="166649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87293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780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microsoft.com/office/2007/relationships/hdphoto" Target="../media/hdphoto3.wdp"/><Relationship Id="rId5" Type="http://schemas.openxmlformats.org/officeDocument/2006/relationships/image" Target="../media/image2.png"/><Relationship Id="rId10" Type="http://schemas.openxmlformats.org/officeDocument/2006/relationships/image" Target="../media/image6.png"/><Relationship Id="rId4" Type="http://schemas.microsoft.com/office/2007/relationships/hdphoto" Target="../media/hdphoto1.wdp"/><Relationship Id="rId9" Type="http://schemas.openxmlformats.org/officeDocument/2006/relationships/image" Target="../media/image5.png"/><Relationship Id="rId1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microsoft.com/office/2007/relationships/hdphoto" Target="../media/hdphoto5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0.svg"/><Relationship Id="rId4" Type="http://schemas.microsoft.com/office/2007/relationships/hdphoto" Target="../media/hdphoto4.wdp"/><Relationship Id="rId9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svg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F8AD6E2-34EA-D611-ED70-DDF6F1C84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49" b="93552" l="7880" r="90127">
                        <a14:foregroundMark x1="50362" y1="93552" x2="50362" y2="93552"/>
                        <a14:foregroundMark x1="90127" y1="52877" x2="90127" y2="52877"/>
                        <a14:foregroundMark x1="7971" y1="52381" x2="7971" y2="52381"/>
                        <a14:foregroundMark x1="45652" y1="6349" x2="45652" y2="6349"/>
                      </a14:backgroundRemoval>
                    </a14:imgEffect>
                  </a14:imgLayer>
                </a14:imgProps>
              </a:ext>
            </a:extLst>
          </a:blip>
          <a:srcRect l="8934" t="54559" r="9518" b="1"/>
          <a:stretch>
            <a:fillRect/>
          </a:stretch>
        </p:blipFill>
        <p:spPr>
          <a:xfrm>
            <a:off x="6132752" y="4628"/>
            <a:ext cx="36380575" cy="18268374"/>
          </a:xfrm>
          <a:prstGeom prst="rect">
            <a:avLst/>
          </a:prstGeom>
        </p:spPr>
      </p:pic>
      <p:sp>
        <p:nvSpPr>
          <p:cNvPr id="12" name="silent presenter">
            <a:extLst>
              <a:ext uri="{FF2B5EF4-FFF2-40B4-BE49-F238E27FC236}">
                <a16:creationId xmlns:a16="http://schemas.microsoft.com/office/drawing/2014/main" id="{EC86DA8B-8163-4552-8FA4-435C18CFF2A9}"/>
              </a:ext>
            </a:extLst>
          </p:cNvPr>
          <p:cNvSpPr/>
          <p:nvPr/>
        </p:nvSpPr>
        <p:spPr>
          <a:xfrm>
            <a:off x="-1" y="0"/>
            <a:ext cx="13812254" cy="32918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ilent presenter">
            <a:extLst>
              <a:ext uri="{FF2B5EF4-FFF2-40B4-BE49-F238E27FC236}">
                <a16:creationId xmlns:a16="http://schemas.microsoft.com/office/drawing/2014/main" id="{E91355F0-DE1F-ABC6-5F6D-6F3401B7C721}"/>
              </a:ext>
            </a:extLst>
          </p:cNvPr>
          <p:cNvSpPr/>
          <p:nvPr/>
        </p:nvSpPr>
        <p:spPr>
          <a:xfrm>
            <a:off x="35565346" y="-4954"/>
            <a:ext cx="13812254" cy="32918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FB1745B-D693-DEA5-8CCE-0CCD4EBAF37E}"/>
              </a:ext>
            </a:extLst>
          </p:cNvPr>
          <p:cNvSpPr/>
          <p:nvPr/>
        </p:nvSpPr>
        <p:spPr>
          <a:xfrm>
            <a:off x="-1" y="8581621"/>
            <a:ext cx="13812253" cy="287633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DC4359A-7BBB-495A-96DE-65574C0C8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01999" y="200374"/>
            <a:ext cx="21173600" cy="10767172"/>
          </a:xfrm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1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Measles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ea typeface="Segoe UI Black" panose="020B0A02040204020203" pitchFamily="34" charset="0"/>
                <a:cs typeface="Arial" panose="020B0604020202020204" pitchFamily="34" charset="0"/>
              </a:rPr>
              <a:t> is </a:t>
            </a:r>
            <a:r>
              <a:rPr lang="en-US" sz="11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re-emerging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ea typeface="Segoe UI Black" panose="020B0A02040204020203" pitchFamily="34" charset="0"/>
                <a:cs typeface="Arial" panose="020B0604020202020204" pitchFamily="34" charset="0"/>
              </a:rPr>
              <a:t> where vaccination coverage drops and we need to </a:t>
            </a:r>
            <a:r>
              <a:rPr lang="en-US" sz="11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do something about it.</a:t>
            </a:r>
            <a:endParaRPr lang="en-US" sz="11500" dirty="0">
              <a:solidFill>
                <a:schemeClr val="bg1"/>
              </a:solidFill>
              <a:latin typeface="Arial Rounded MT Bold" panose="020F0704030504030204" pitchFamily="34" charset="77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5520EB-0F65-403D-A973-B17B2A4C2E9D}"/>
              </a:ext>
            </a:extLst>
          </p:cNvPr>
          <p:cNvSpPr txBox="1"/>
          <p:nvPr/>
        </p:nvSpPr>
        <p:spPr>
          <a:xfrm>
            <a:off x="19048206" y="30779034"/>
            <a:ext cx="477089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Scan to </a:t>
            </a:r>
            <a:b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view the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project on GitHub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2B70FBA-A2DF-453C-9792-CA6E8DB0D343}"/>
              </a:ext>
            </a:extLst>
          </p:cNvPr>
          <p:cNvCxnSpPr>
            <a:cxnSpLocks/>
          </p:cNvCxnSpPr>
          <p:nvPr/>
        </p:nvCxnSpPr>
        <p:spPr>
          <a:xfrm flipH="1">
            <a:off x="17365375" y="31933196"/>
            <a:ext cx="1297464" cy="0"/>
          </a:xfrm>
          <a:prstGeom prst="straightConnector1">
            <a:avLst/>
          </a:prstGeom>
          <a:ln w="66675"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BA4CF46-E210-4322-91D1-2A41779F64E4}"/>
              </a:ext>
            </a:extLst>
          </p:cNvPr>
          <p:cNvSpPr/>
          <p:nvPr/>
        </p:nvSpPr>
        <p:spPr>
          <a:xfrm>
            <a:off x="4697113" y="9405852"/>
            <a:ext cx="4682692" cy="12530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Arkesh Das</a:t>
            </a:r>
            <a:endParaRPr kumimoji="0" lang="en-US" sz="70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C155C6-7E35-4156-B9B3-271571AF60CC}"/>
              </a:ext>
            </a:extLst>
          </p:cNvPr>
          <p:cNvSpPr txBox="1"/>
          <p:nvPr/>
        </p:nvSpPr>
        <p:spPr>
          <a:xfrm>
            <a:off x="844159" y="679775"/>
            <a:ext cx="12388600" cy="7171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b="1" i="1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Measles is Back:</a:t>
            </a:r>
            <a:br>
              <a:rPr kumimoji="0" lang="en-US" sz="11500" b="0" i="1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</a:br>
            <a:r>
              <a:rPr kumimoji="0" lang="en-US" sz="11500" b="0" i="1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 Data-Driven Look at Vaccination Gaps in the U.S.</a:t>
            </a:r>
          </a:p>
        </p:txBody>
      </p:sp>
      <p:pic>
        <p:nvPicPr>
          <p:cNvPr id="1028" name="Picture 4" descr="MSU Trademarks | University Trademarks and Licensing ...">
            <a:extLst>
              <a:ext uri="{FF2B5EF4-FFF2-40B4-BE49-F238E27FC236}">
                <a16:creationId xmlns:a16="http://schemas.microsoft.com/office/drawing/2014/main" id="{027B947A-3271-E910-CB43-491BAD171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accent5">
                <a:lumMod val="5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000" b="95667" l="3600" r="94800">
                        <a14:foregroundMark x1="30400" y1="20000" x2="30400" y2="20000"/>
                        <a14:foregroundMark x1="80800" y1="91333" x2="80800" y2="91333"/>
                        <a14:foregroundMark x1="84400" y1="95667" x2="84400" y2="95667"/>
                        <a14:foregroundMark x1="90400" y1="71333" x2="90400" y2="71333"/>
                        <a14:foregroundMark x1="94800" y1="73667" x2="94800" y2="73667"/>
                        <a14:foregroundMark x1="3600" y1="45667" x2="3600" y2="45667"/>
                        <a14:foregroundMark x1="24000" y1="48000" x2="24000" y2="48000"/>
                        <a14:foregroundMark x1="21600" y1="54333" x2="21600" y2="54333"/>
                        <a14:foregroundMark x1="28400" y1="43000" x2="28400" y2="43000"/>
                        <a14:foregroundMark x1="32800" y1="39333" x2="32800" y2="39333"/>
                        <a14:foregroundMark x1="37600" y1="35667" x2="37600" y2="35667"/>
                        <a14:foregroundMark x1="50400" y1="31333" x2="50400" y2="31333"/>
                        <a14:foregroundMark x1="56800" y1="29000" x2="56800" y2="29000"/>
                        <a14:foregroundMark x1="42800" y1="31333" x2="42800" y2="31333"/>
                        <a14:foregroundMark x1="62000" y1="6000" x2="62000" y2="6000"/>
                        <a14:backgroundMark x1="24000" y1="49000" x2="24000" y2="49000"/>
                        <a14:backgroundMark x1="23600" y1="49000" x2="23600" y2="49000"/>
                        <a14:backgroundMark x1="23600" y1="49000" x2="23600" y2="49000"/>
                        <a14:backgroundMark x1="23600" y1="48667" x2="23600" y2="48667"/>
                        <a14:backgroundMark x1="24000" y1="48667" x2="24000" y2="48667"/>
                        <a14:backgroundMark x1="23600" y1="48333" x2="23600" y2="48333"/>
                        <a14:backgroundMark x1="41600" y1="34667" x2="41600" y2="34667"/>
                        <a14:backgroundMark x1="41600" y1="34000" x2="41600" y2="34000"/>
                        <a14:backgroundMark x1="69600" y1="27000" x2="69600" y2="27000"/>
                        <a14:backgroundMark x1="83600" y1="96667" x2="83600" y2="96667"/>
                        <a14:backgroundMark x1="84000" y1="96333" x2="84000" y2="96333"/>
                        <a14:backgroundMark x1="84400" y1="96667" x2="84400" y2="96667"/>
                        <a14:backgroundMark x1="84400" y1="96333" x2="84400" y2="96333"/>
                        <a14:backgroundMark x1="83600" y1="96000" x2="83600" y2="96000"/>
                        <a14:backgroundMark x1="94400" y1="74667" x2="94400" y2="7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0363" y="28466366"/>
            <a:ext cx="2564777" cy="3077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F3EAE9-9C21-7EB7-BD59-E4721BF72C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97620" y="30184072"/>
            <a:ext cx="2767264" cy="27297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F039885-CE44-80E0-C9B6-0FAE3F1B8F4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701" t="7162" r="3152" b="25229"/>
          <a:stretch>
            <a:fillRect/>
          </a:stretch>
        </p:blipFill>
        <p:spPr>
          <a:xfrm>
            <a:off x="1079107" y="8948398"/>
            <a:ext cx="2167945" cy="2167945"/>
          </a:xfrm>
          <a:prstGeom prst="rect">
            <a:avLst/>
          </a:prstGeom>
          <a:ln w="38100">
            <a:solidFill>
              <a:schemeClr val="accent1">
                <a:lumMod val="20000"/>
                <a:lumOff val="80000"/>
              </a:schemeClr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7225609-5377-1820-22EC-E2495F5E1FB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0860" y="13996101"/>
            <a:ext cx="13206869" cy="610003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31DDCF4-AEFF-F809-8A07-635B7C650492}"/>
              </a:ext>
            </a:extLst>
          </p:cNvPr>
          <p:cNvSpPr txBox="1"/>
          <p:nvPr/>
        </p:nvSpPr>
        <p:spPr>
          <a:xfrm>
            <a:off x="309592" y="22241401"/>
            <a:ext cx="132068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While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 measles is declining globally </a:t>
            </a:r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across 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Europe, the United States </a:t>
            </a:r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seeing a renewed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 increase.</a:t>
            </a:r>
            <a:endParaRPr lang="en-US" sz="7000" dirty="0">
              <a:solidFill>
                <a:schemeClr val="bg1">
                  <a:lumMod val="9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4E793203-A096-D0D8-7C05-E4565779146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>
                        <a14:backgroundMark x1="54095" y1="34067" x2="54095" y2="34067"/>
                        <a14:backgroundMark x1="55190" y1="34733" x2="55190" y2="34733"/>
                        <a14:backgroundMark x1="55429" y1="39533" x2="55429" y2="39533"/>
                        <a14:backgroundMark x1="56095" y1="39200" x2="56095" y2="39200"/>
                        <a14:backgroundMark x1="59000" y1="38000" x2="59000" y2="38000"/>
                        <a14:backgroundMark x1="60286" y1="39067" x2="60286" y2="39067"/>
                        <a14:backgroundMark x1="56524" y1="40000" x2="56524" y2="40000"/>
                        <a14:backgroundMark x1="55524" y1="43133" x2="55524" y2="43133"/>
                        <a14:backgroundMark x1="63381" y1="45133" x2="63381" y2="45133"/>
                        <a14:backgroundMark x1="67714" y1="40933" x2="67714" y2="40933"/>
                        <a14:backgroundMark x1="23952" y1="46800" x2="23952" y2="46800"/>
                        <a14:backgroundMark x1="51429" y1="35067" x2="51429" y2="35067"/>
                      </a14:backgroundRemoval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357799" y="16989959"/>
            <a:ext cx="20661999" cy="1475857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3FFEC99-A647-DDB8-8C6E-9DFA81747DF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b="9014"/>
          <a:stretch>
            <a:fillRect/>
          </a:stretch>
        </p:blipFill>
        <p:spPr>
          <a:xfrm>
            <a:off x="34278362" y="1235169"/>
            <a:ext cx="16386222" cy="693174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D05D4BB-C6FA-C0D0-13A5-FAB3E3C91CD2}"/>
              </a:ext>
            </a:extLst>
          </p:cNvPr>
          <p:cNvSpPr txBox="1"/>
          <p:nvPr/>
        </p:nvSpPr>
        <p:spPr>
          <a:xfrm>
            <a:off x="35757129" y="10370913"/>
            <a:ext cx="132068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 slight drops </a:t>
            </a:r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 vaccination coverage </a:t>
            </a:r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 a rapidly 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accumulating </a:t>
            </a:r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pool of 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unvaccinated children.</a:t>
            </a:r>
            <a:endParaRPr lang="en-US" sz="7000" dirty="0">
              <a:solidFill>
                <a:schemeClr val="bg1">
                  <a:lumMod val="9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99CD8F23-61F5-3A76-241D-907C747C7C5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757128" y="17285976"/>
            <a:ext cx="13206869" cy="6113665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CCBC8FE-528A-21E2-90BE-17527A2CC1A7}"/>
              </a:ext>
            </a:extLst>
          </p:cNvPr>
          <p:cNvSpPr txBox="1"/>
          <p:nvPr/>
        </p:nvSpPr>
        <p:spPr>
          <a:xfrm>
            <a:off x="35948914" y="25192889"/>
            <a:ext cx="13206869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Where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 vaccination </a:t>
            </a:r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requirements are 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weaker, measles cases are higher, </a:t>
            </a:r>
            <a:r>
              <a:rPr lang="en-US" sz="7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making a clear case for </a:t>
            </a:r>
            <a:r>
              <a:rPr lang="en-US" sz="70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77"/>
              </a:rPr>
              <a:t>standardized national vaccine policies.</a:t>
            </a:r>
            <a:endParaRPr lang="en-US" sz="7000" dirty="0">
              <a:solidFill>
                <a:schemeClr val="bg1">
                  <a:lumMod val="9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DEDC0F0-E854-92FE-9C6D-72D33B2B3BC5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86607"/>
          <a:stretch>
            <a:fillRect/>
          </a:stretch>
        </p:blipFill>
        <p:spPr>
          <a:xfrm>
            <a:off x="32252533" y="16982644"/>
            <a:ext cx="2767264" cy="14758571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EADBCB3-CD8D-7AA3-C297-09967A80A0C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1724" r="54205" b="86862"/>
          <a:stretch>
            <a:fillRect/>
          </a:stretch>
        </p:blipFill>
        <p:spPr>
          <a:xfrm>
            <a:off x="14713368" y="16975329"/>
            <a:ext cx="9105730" cy="1938993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4E9EB63B-EFA3-563C-DE61-6BF5EE38F9F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91311"/>
          <a:stretch>
            <a:fillRect/>
          </a:stretch>
        </p:blipFill>
        <p:spPr>
          <a:xfrm>
            <a:off x="35558717" y="8540625"/>
            <a:ext cx="13590438" cy="549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835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01C357-D9BB-60F5-0B22-7A79BC7E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F9E1C28-A29B-B9BF-97C9-57588C2E86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49" b="93552" l="7880" r="90127">
                        <a14:foregroundMark x1="50362" y1="93552" x2="50362" y2="93552"/>
                        <a14:foregroundMark x1="90127" y1="52877" x2="90127" y2="52877"/>
                        <a14:foregroundMark x1="7971" y1="52381" x2="7971" y2="52381"/>
                        <a14:foregroundMark x1="45652" y1="6349" x2="45652" y2="6349"/>
                      </a14:backgroundRemoval>
                    </a14:imgEffect>
                  </a14:imgLayer>
                </a14:imgProps>
              </a:ext>
            </a:extLst>
          </a:blip>
          <a:srcRect l="8934" t="61068" r="9518"/>
          <a:stretch>
            <a:fillRect/>
          </a:stretch>
        </p:blipFill>
        <p:spPr>
          <a:xfrm>
            <a:off x="0" y="0"/>
            <a:ext cx="49377600" cy="215232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93D5F72-68A4-ED00-6FE6-40AEBA6D4404}"/>
              </a:ext>
            </a:extLst>
          </p:cNvPr>
          <p:cNvSpPr/>
          <p:nvPr/>
        </p:nvSpPr>
        <p:spPr>
          <a:xfrm>
            <a:off x="39353019" y="0"/>
            <a:ext cx="9985073" cy="329184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Lato" panose="020F0502020204030203" pitchFamily="34" charset="0"/>
            </a:endParaRPr>
          </a:p>
        </p:txBody>
      </p:sp>
      <p:sp>
        <p:nvSpPr>
          <p:cNvPr id="12" name="silent presenter">
            <a:extLst>
              <a:ext uri="{FF2B5EF4-FFF2-40B4-BE49-F238E27FC236}">
                <a16:creationId xmlns:a16="http://schemas.microsoft.com/office/drawing/2014/main" id="{76186862-68A0-1F9A-0986-8DEA6A1938FC}"/>
              </a:ext>
            </a:extLst>
          </p:cNvPr>
          <p:cNvSpPr/>
          <p:nvPr/>
        </p:nvSpPr>
        <p:spPr>
          <a:xfrm>
            <a:off x="-852" y="872"/>
            <a:ext cx="11571511" cy="329184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1844F5-38A8-2697-E45F-6E5FDB1219AE}"/>
              </a:ext>
            </a:extLst>
          </p:cNvPr>
          <p:cNvSpPr/>
          <p:nvPr/>
        </p:nvSpPr>
        <p:spPr>
          <a:xfrm>
            <a:off x="0" y="8581621"/>
            <a:ext cx="11571510" cy="287633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7CD963B-4DD9-7807-7B47-29641E70B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91018" y="448463"/>
            <a:ext cx="25976634" cy="10767172"/>
          </a:xfrm>
        </p:spPr>
        <p:txBody>
          <a:bodyPr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12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Measles</a:t>
            </a:r>
            <a:r>
              <a:rPr lang="en-US" sz="12500" dirty="0">
                <a:solidFill>
                  <a:schemeClr val="bg1"/>
                </a:solidFill>
                <a:latin typeface="Arial" panose="020B0604020202020204" pitchFamily="34" charset="0"/>
                <a:ea typeface="Segoe UI Black" panose="020B0A02040204020203" pitchFamily="34" charset="0"/>
                <a:cs typeface="Arial" panose="020B0604020202020204" pitchFamily="34" charset="0"/>
              </a:rPr>
              <a:t> is </a:t>
            </a:r>
            <a:r>
              <a:rPr lang="en-US" sz="12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re-emerging</a:t>
            </a:r>
            <a:r>
              <a:rPr lang="en-US" sz="12500" dirty="0">
                <a:solidFill>
                  <a:schemeClr val="bg1"/>
                </a:solidFill>
                <a:latin typeface="Arial" panose="020B0604020202020204" pitchFamily="34" charset="0"/>
                <a:ea typeface="Segoe UI Black" panose="020B0A02040204020203" pitchFamily="34" charset="0"/>
                <a:cs typeface="Arial" panose="020B0604020202020204" pitchFamily="34" charset="0"/>
              </a:rPr>
              <a:t> where vaccination coverage drops and we need to </a:t>
            </a:r>
            <a:r>
              <a:rPr lang="en-US" sz="12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do something about it.</a:t>
            </a:r>
            <a:endParaRPr lang="en-US" sz="12500" dirty="0">
              <a:solidFill>
                <a:schemeClr val="bg1"/>
              </a:solidFill>
              <a:latin typeface="Arial Rounded MT Bold" panose="020F0704030504030204" pitchFamily="34" charset="77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A84D19-AB1E-57EA-CA6B-CA39557235CB}"/>
              </a:ext>
            </a:extLst>
          </p:cNvPr>
          <p:cNvSpPr txBox="1"/>
          <p:nvPr/>
        </p:nvSpPr>
        <p:spPr>
          <a:xfrm>
            <a:off x="1010509" y="12822781"/>
            <a:ext cx="9563989" cy="19974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BACKGROUND: Who cares?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 Explain why your study matters in the fastest, most brutal way possible (feel free to add graphics!).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METHODS</a:t>
            </a:r>
          </a:p>
          <a:p>
            <a:pPr marL="742950" marR="0" lvl="0" indent="-74295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Collected [what] from [population]</a:t>
            </a:r>
          </a:p>
          <a:p>
            <a:pPr marL="742950" marR="0" lvl="0" indent="-74295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Tested it with X process.</a:t>
            </a:r>
          </a:p>
          <a:p>
            <a:pPr marL="742950" marR="0" lvl="0" indent="-74295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Illustrate your methods if you can.</a:t>
            </a:r>
          </a:p>
          <a:p>
            <a:pPr marL="742950" marR="0" lvl="0" indent="-74295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Try a flowchart!</a:t>
            </a: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RESULTS</a:t>
            </a:r>
          </a:p>
          <a:p>
            <a:pPr marL="571500" marR="0" lvl="0" indent="-5715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Graph/table with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essential results only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.</a:t>
            </a:r>
          </a:p>
          <a:p>
            <a:pPr marL="571500" marR="0" lvl="0" indent="-5715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All the other correlations in the ammo bar.</a:t>
            </a:r>
          </a:p>
          <a:p>
            <a:pPr marL="571500" marR="0" lvl="0" indent="-5715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571500" marR="0" lvl="0" indent="-5715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5830E-7FD5-73B3-DD6F-E7259F73C86A}"/>
              </a:ext>
            </a:extLst>
          </p:cNvPr>
          <p:cNvSpPr txBox="1"/>
          <p:nvPr/>
        </p:nvSpPr>
        <p:spPr>
          <a:xfrm>
            <a:off x="40636456" y="1831671"/>
            <a:ext cx="7662037" cy="9140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AMMO BAR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Delete this and replace it with your…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Extra Graphs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Extra Correlation tables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Extra Figures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Extra nuance that you’re worried about leaving out.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Keep it messy!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 This section is just for you.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14638D-9136-58D9-301E-937F7E21EA55}"/>
              </a:ext>
            </a:extLst>
          </p:cNvPr>
          <p:cNvSpPr txBox="1"/>
          <p:nvPr/>
        </p:nvSpPr>
        <p:spPr>
          <a:xfrm>
            <a:off x="17619935" y="30123113"/>
            <a:ext cx="47708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 Black" panose="020F0A02020204030203" pitchFamily="34" charset="0"/>
                <a:ea typeface="+mn-ea"/>
                <a:cs typeface="Arial" panose="020B0604020202020204" pitchFamily="34" charset="0"/>
              </a:rPr>
              <a:t>Scan 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Arial" panose="020B0604020202020204" pitchFamily="34" charset="0"/>
              </a:rPr>
              <a:t>to </a:t>
            </a:r>
            <a:b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 Black" panose="020F0A02020204030203" pitchFamily="34" charset="0"/>
                <a:ea typeface="+mn-ea"/>
                <a:cs typeface="Arial" panose="020B0604020202020204" pitchFamily="34" charset="0"/>
              </a:rPr>
              <a:t>view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Arial" panose="020B0604020202020204" pitchFamily="34" charset="0"/>
              </a:rPr>
              <a:t> the</a:t>
            </a: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 Black" panose="020F0A02020204030203" pitchFamily="34" charset="0"/>
                <a:ea typeface="+mn-ea"/>
                <a:cs typeface="Arial" panose="020B0604020202020204" pitchFamily="34" charset="0"/>
              </a:rPr>
              <a:t>project on GitHub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A4BBB10-7404-CD8B-7AC9-5E64B3FC50B7}"/>
              </a:ext>
            </a:extLst>
          </p:cNvPr>
          <p:cNvCxnSpPr>
            <a:cxnSpLocks/>
          </p:cNvCxnSpPr>
          <p:nvPr/>
        </p:nvCxnSpPr>
        <p:spPr>
          <a:xfrm flipH="1">
            <a:off x="15937104" y="31277275"/>
            <a:ext cx="1297464" cy="0"/>
          </a:xfrm>
          <a:prstGeom prst="straightConnector1">
            <a:avLst/>
          </a:prstGeom>
          <a:ln w="66675"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C94074A-F47E-60B3-79FB-2EF38A3C1448}"/>
              </a:ext>
            </a:extLst>
          </p:cNvPr>
          <p:cNvSpPr/>
          <p:nvPr/>
        </p:nvSpPr>
        <p:spPr>
          <a:xfrm>
            <a:off x="4684422" y="9863308"/>
            <a:ext cx="4682692" cy="12530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Arkesh Das</a:t>
            </a:r>
            <a:endParaRPr kumimoji="0" lang="en-US" sz="70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F07C56-774C-EC58-97F9-8F84D6D0790A}"/>
              </a:ext>
            </a:extLst>
          </p:cNvPr>
          <p:cNvSpPr txBox="1"/>
          <p:nvPr/>
        </p:nvSpPr>
        <p:spPr>
          <a:xfrm>
            <a:off x="1079107" y="1024849"/>
            <a:ext cx="9563989" cy="74020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0" b="1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Measles is Back:</a:t>
            </a:r>
            <a:br>
              <a:rPr kumimoji="0" lang="en-US" sz="95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</a:br>
            <a:r>
              <a:rPr kumimoji="0" lang="en-US" sz="95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 Data-Driven Look at Vaccination Gaps in the U.S.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0A198DD9-19BB-E864-5E92-C2D3623FE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410697" y="20542687"/>
            <a:ext cx="12223692" cy="81491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6080324-5352-4B33-9E83-8ADFAC948B00}"/>
              </a:ext>
            </a:extLst>
          </p:cNvPr>
          <p:cNvSpPr txBox="1"/>
          <p:nvPr/>
        </p:nvSpPr>
        <p:spPr>
          <a:xfrm>
            <a:off x="41128190" y="25382839"/>
            <a:ext cx="75173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Leeroy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Jenkins, author2, </a:t>
            </a:r>
            <a:b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</a:b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author3, author4, author5, author6, author7, author42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3" name="Graphic 18">
            <a:extLst>
              <a:ext uri="{FF2B5EF4-FFF2-40B4-BE49-F238E27FC236}">
                <a16:creationId xmlns:a16="http://schemas.microsoft.com/office/drawing/2014/main" id="{1F4B0229-B515-A6B8-96C8-0125C7B99056}"/>
              </a:ext>
            </a:extLst>
          </p:cNvPr>
          <p:cNvSpPr/>
          <p:nvPr/>
        </p:nvSpPr>
        <p:spPr>
          <a:xfrm>
            <a:off x="40636456" y="25584006"/>
            <a:ext cx="360430" cy="335196"/>
          </a:xfrm>
          <a:custGeom>
            <a:avLst/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A8BFF5-F043-15ED-074E-0ADA7564CBD2}"/>
              </a:ext>
            </a:extLst>
          </p:cNvPr>
          <p:cNvSpPr/>
          <p:nvPr/>
        </p:nvSpPr>
        <p:spPr>
          <a:xfrm>
            <a:off x="20708991" y="29685166"/>
            <a:ext cx="246888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Visualize your findings with an image, graphic, or a key figure.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028" name="Picture 4" descr="MSU Trademarks | University Trademarks and Licensing ...">
            <a:extLst>
              <a:ext uri="{FF2B5EF4-FFF2-40B4-BE49-F238E27FC236}">
                <a16:creationId xmlns:a16="http://schemas.microsoft.com/office/drawing/2014/main" id="{2543EE5C-17E6-EA4F-A1C8-9A421FD80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lumMod val="5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000" b="95667" l="3600" r="94800">
                        <a14:foregroundMark x1="30400" y1="20000" x2="30400" y2="20000"/>
                        <a14:foregroundMark x1="80800" y1="91333" x2="80800" y2="91333"/>
                        <a14:foregroundMark x1="84400" y1="95667" x2="84400" y2="95667"/>
                        <a14:foregroundMark x1="90400" y1="71333" x2="90400" y2="71333"/>
                        <a14:foregroundMark x1="94800" y1="73667" x2="94800" y2="73667"/>
                        <a14:foregroundMark x1="3600" y1="45667" x2="3600" y2="45667"/>
                        <a14:foregroundMark x1="24000" y1="48000" x2="24000" y2="48000"/>
                        <a14:foregroundMark x1="21600" y1="54333" x2="21600" y2="54333"/>
                        <a14:foregroundMark x1="28400" y1="43000" x2="28400" y2="43000"/>
                        <a14:foregroundMark x1="32800" y1="39333" x2="32800" y2="39333"/>
                        <a14:foregroundMark x1="37600" y1="35667" x2="37600" y2="35667"/>
                        <a14:foregroundMark x1="50400" y1="31333" x2="50400" y2="31333"/>
                        <a14:foregroundMark x1="56800" y1="29000" x2="56800" y2="29000"/>
                        <a14:foregroundMark x1="42800" y1="31333" x2="42800" y2="31333"/>
                        <a14:foregroundMark x1="62000" y1="6000" x2="62000" y2="6000"/>
                        <a14:backgroundMark x1="24000" y1="49000" x2="24000" y2="49000"/>
                        <a14:backgroundMark x1="23600" y1="49000" x2="23600" y2="49000"/>
                        <a14:backgroundMark x1="23600" y1="49000" x2="23600" y2="49000"/>
                        <a14:backgroundMark x1="23600" y1="48667" x2="23600" y2="48667"/>
                        <a14:backgroundMark x1="24000" y1="48667" x2="24000" y2="48667"/>
                        <a14:backgroundMark x1="23600" y1="48333" x2="23600" y2="48333"/>
                        <a14:backgroundMark x1="41600" y1="34667" x2="41600" y2="34667"/>
                        <a14:backgroundMark x1="41600" y1="34000" x2="41600" y2="34000"/>
                        <a14:backgroundMark x1="69600" y1="27000" x2="69600" y2="27000"/>
                        <a14:backgroundMark x1="83600" y1="96667" x2="83600" y2="96667"/>
                        <a14:backgroundMark x1="84000" y1="96333" x2="84000" y2="96333"/>
                        <a14:backgroundMark x1="84400" y1="96667" x2="84400" y2="96667"/>
                        <a14:backgroundMark x1="84400" y1="96333" x2="84400" y2="96333"/>
                        <a14:backgroundMark x1="83600" y1="96000" x2="83600" y2="96000"/>
                        <a14:backgroundMark x1="94400" y1="74667" x2="94400" y2="7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6588" y="27698463"/>
            <a:ext cx="3954365" cy="4745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DFA5B7-A365-02DC-14A5-18083AA37B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64591" y="28918178"/>
            <a:ext cx="3988781" cy="393463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B52720-853D-0375-2167-5A3325AEAAB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701" t="7162" r="3152" b="25229"/>
          <a:stretch>
            <a:fillRect/>
          </a:stretch>
        </p:blipFill>
        <p:spPr>
          <a:xfrm>
            <a:off x="1079107" y="8948398"/>
            <a:ext cx="2167945" cy="2167945"/>
          </a:xfrm>
          <a:prstGeom prst="rect">
            <a:avLst/>
          </a:prstGeom>
          <a:ln w="38100">
            <a:solidFill>
              <a:schemeClr val="accent1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41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78733BE-059C-47B7-9415-5ADF2F3024F1}"/>
              </a:ext>
            </a:extLst>
          </p:cNvPr>
          <p:cNvSpPr/>
          <p:nvPr/>
        </p:nvSpPr>
        <p:spPr>
          <a:xfrm>
            <a:off x="39474939" y="0"/>
            <a:ext cx="9985073" cy="3291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Lato" panose="020F0502020204030203" pitchFamily="34" charset="0"/>
              </a:rPr>
              <a:t>Non-Cognitive Predictors of Student Success:</a:t>
            </a:r>
            <a:b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Lato" panose="020F0502020204030203" pitchFamily="34" charset="0"/>
              </a:rPr>
            </a:b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Lato" panose="020F0502020204030203" pitchFamily="34" charset="0"/>
              </a:rPr>
              <a:t>A Predictive Validity Comparison Between Domestic and International Students</a:t>
            </a:r>
          </a:p>
        </p:txBody>
      </p:sp>
      <p:sp>
        <p:nvSpPr>
          <p:cNvPr id="12" name="silent presenter">
            <a:extLst>
              <a:ext uri="{FF2B5EF4-FFF2-40B4-BE49-F238E27FC236}">
                <a16:creationId xmlns:a16="http://schemas.microsoft.com/office/drawing/2014/main" id="{EC86DA8B-8163-4552-8FA4-435C18CFF2A9}"/>
              </a:ext>
            </a:extLst>
          </p:cNvPr>
          <p:cNvSpPr/>
          <p:nvPr/>
        </p:nvSpPr>
        <p:spPr>
          <a:xfrm>
            <a:off x="-1" y="0"/>
            <a:ext cx="11571511" cy="3291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DC4359A-7BBB-495A-96DE-65574C0C8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91018" y="2094383"/>
            <a:ext cx="25976634" cy="10767172"/>
          </a:xfrm>
        </p:spPr>
        <p:txBody>
          <a:bodyPr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12500" dirty="0">
                <a:solidFill>
                  <a:schemeClr val="bg1"/>
                </a:solidFill>
                <a:latin typeface="Lato Black" panose="020F0A0202020403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Main finding</a:t>
            </a:r>
            <a:r>
              <a:rPr lang="en-US" sz="12500" dirty="0">
                <a:solidFill>
                  <a:schemeClr val="bg1"/>
                </a:solidFill>
                <a:latin typeface="Lato" panose="020F050202020403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goes here</a:t>
            </a:r>
            <a:r>
              <a:rPr lang="en-US" sz="12500" dirty="0">
                <a:solidFill>
                  <a:schemeClr val="bg1"/>
                </a:solidFill>
                <a:latin typeface="Lato" panose="020F0502020204030203" pitchFamily="34" charset="0"/>
                <a:ea typeface="Roboto" panose="02000000000000000000" pitchFamily="2" charset="0"/>
                <a:cs typeface="Segoe UI" panose="020B0502040204020203" pitchFamily="34" charset="0"/>
              </a:rPr>
              <a:t>, translated into </a:t>
            </a:r>
            <a:r>
              <a:rPr lang="en-US" sz="12500" dirty="0">
                <a:solidFill>
                  <a:schemeClr val="bg1"/>
                </a:solidFill>
                <a:latin typeface="Lato Black" panose="020F0A0202020403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plain English</a:t>
            </a:r>
            <a:r>
              <a:rPr lang="en-US" sz="12500" dirty="0">
                <a:solidFill>
                  <a:schemeClr val="bg1"/>
                </a:solidFill>
                <a:latin typeface="Lato" panose="020F0502020204030203" pitchFamily="34" charset="0"/>
                <a:ea typeface="Roboto" panose="02000000000000000000" pitchFamily="2" charset="0"/>
                <a:cs typeface="Segoe UI" panose="020B0502040204020203" pitchFamily="34" charset="0"/>
              </a:rPr>
              <a:t>. </a:t>
            </a:r>
            <a:r>
              <a:rPr lang="en-US" sz="12500" dirty="0">
                <a:solidFill>
                  <a:schemeClr val="bg1"/>
                </a:solidFill>
                <a:latin typeface="Lato Black" panose="020F0A0202020403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Emphasize</a:t>
            </a:r>
            <a:r>
              <a:rPr lang="en-US" sz="12500" dirty="0">
                <a:solidFill>
                  <a:schemeClr val="bg1"/>
                </a:solidFill>
                <a:latin typeface="Lato" panose="020F0502020204030203" pitchFamily="34" charset="0"/>
                <a:ea typeface="Roboto" panose="02000000000000000000" pitchFamily="2" charset="0"/>
                <a:cs typeface="Segoe UI" panose="020B0502040204020203" pitchFamily="34" charset="0"/>
              </a:rPr>
              <a:t> the important words.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5B311-3C19-412C-ADE6-EB2E4158F366}"/>
              </a:ext>
            </a:extLst>
          </p:cNvPr>
          <p:cNvSpPr txBox="1"/>
          <p:nvPr/>
        </p:nvSpPr>
        <p:spPr>
          <a:xfrm>
            <a:off x="1010509" y="5926681"/>
            <a:ext cx="9563989" cy="19974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BACKGROUND: Who cares?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 Explain why your study matters in the fastest, most brutal way possible (feel free to add graphics!).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8C1616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8C1616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8C1616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METHODS</a:t>
            </a:r>
          </a:p>
          <a:p>
            <a:pPr marL="742950" marR="0" lvl="0" indent="-74295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Collected [what] from [population]</a:t>
            </a:r>
          </a:p>
          <a:p>
            <a:pPr marL="742950" marR="0" lvl="0" indent="-74295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Tested it with X process.</a:t>
            </a:r>
          </a:p>
          <a:p>
            <a:pPr marL="742950" marR="0" lvl="0" indent="-74295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Illustrate your methods if you can.</a:t>
            </a:r>
          </a:p>
          <a:p>
            <a:pPr marL="742950" marR="0" lvl="0" indent="-74295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Try a flowchart!</a:t>
            </a: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RESULTS</a:t>
            </a:r>
          </a:p>
          <a:p>
            <a:pPr marL="571500" marR="0" lvl="0" indent="-5715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Graph/table with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essential results only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.</a:t>
            </a:r>
          </a:p>
          <a:p>
            <a:pPr marL="571500" marR="0" lvl="0" indent="-5715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All the other correlations in the ammo bar.</a:t>
            </a:r>
          </a:p>
          <a:p>
            <a:pPr marL="571500" marR="0" lvl="0" indent="-5715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571500" marR="0" lvl="0" indent="-5715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AC4B58-8623-4DBE-951A-DDF821787031}"/>
              </a:ext>
            </a:extLst>
          </p:cNvPr>
          <p:cNvSpPr txBox="1"/>
          <p:nvPr/>
        </p:nvSpPr>
        <p:spPr>
          <a:xfrm>
            <a:off x="40636456" y="1831671"/>
            <a:ext cx="7662037" cy="98796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AMMO BAR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Delete this and replace it with your…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Extra Graphs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Extra Correlation tables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Extra Figures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Extra nuance that you’re worried about leaving out.</a:t>
            </a:r>
          </a:p>
          <a:p>
            <a:pPr marL="1143000" marR="0" lvl="0" indent="-1143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Keep it messy!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 This section is just for you.</a:t>
            </a:r>
          </a:p>
        </p:txBody>
      </p:sp>
      <p:sp>
        <p:nvSpPr>
          <p:cNvPr id="9" name="Graphic 7">
            <a:extLst>
              <a:ext uri="{FF2B5EF4-FFF2-40B4-BE49-F238E27FC236}">
                <a16:creationId xmlns:a16="http://schemas.microsoft.com/office/drawing/2014/main" id="{9914F9AF-0FB9-4924-8DCA-B46EEB713FE9}"/>
              </a:ext>
            </a:extLst>
          </p:cNvPr>
          <p:cNvSpPr/>
          <p:nvPr/>
        </p:nvSpPr>
        <p:spPr>
          <a:xfrm>
            <a:off x="18329346" y="28402488"/>
            <a:ext cx="1256803" cy="2173929"/>
          </a:xfrm>
          <a:custGeom>
            <a:avLst/>
            <a:gdLst>
              <a:gd name="connsiteX0" fmla="*/ 321256 w 2089376"/>
              <a:gd name="connsiteY0" fmla="*/ 0 h 3614056"/>
              <a:gd name="connsiteX1" fmla="*/ 0 w 2089376"/>
              <a:gd name="connsiteY1" fmla="*/ 321256 h 3614056"/>
              <a:gd name="connsiteX2" fmla="*/ 0 w 2089376"/>
              <a:gd name="connsiteY2" fmla="*/ 3292801 h 3614056"/>
              <a:gd name="connsiteX3" fmla="*/ 321256 w 2089376"/>
              <a:gd name="connsiteY3" fmla="*/ 3614057 h 3614056"/>
              <a:gd name="connsiteX4" fmla="*/ 1815047 w 2089376"/>
              <a:gd name="connsiteY4" fmla="*/ 3614057 h 3614056"/>
              <a:gd name="connsiteX5" fmla="*/ 2136303 w 2089376"/>
              <a:gd name="connsiteY5" fmla="*/ 3292801 h 3614056"/>
              <a:gd name="connsiteX6" fmla="*/ 2136303 w 2089376"/>
              <a:gd name="connsiteY6" fmla="*/ 321256 h 3614056"/>
              <a:gd name="connsiteX7" fmla="*/ 1815047 w 2089376"/>
              <a:gd name="connsiteY7" fmla="*/ 0 h 3614056"/>
              <a:gd name="connsiteX8" fmla="*/ 321256 w 2089376"/>
              <a:gd name="connsiteY8" fmla="*/ 0 h 3614056"/>
              <a:gd name="connsiteX9" fmla="*/ 889115 w 2089376"/>
              <a:gd name="connsiteY9" fmla="*/ 309397 h 3614056"/>
              <a:gd name="connsiteX10" fmla="*/ 1247302 w 2089376"/>
              <a:gd name="connsiteY10" fmla="*/ 309397 h 3614056"/>
              <a:gd name="connsiteX11" fmla="*/ 1289936 w 2089376"/>
              <a:gd name="connsiteY11" fmla="*/ 369650 h 3614056"/>
              <a:gd name="connsiteX12" fmla="*/ 1247302 w 2089376"/>
              <a:gd name="connsiteY12" fmla="*/ 429903 h 3614056"/>
              <a:gd name="connsiteX13" fmla="*/ 889115 w 2089376"/>
              <a:gd name="connsiteY13" fmla="*/ 429903 h 3614056"/>
              <a:gd name="connsiteX14" fmla="*/ 846480 w 2089376"/>
              <a:gd name="connsiteY14" fmla="*/ 369650 h 3614056"/>
              <a:gd name="connsiteX15" fmla="*/ 889115 w 2089376"/>
              <a:gd name="connsiteY15" fmla="*/ 309397 h 3614056"/>
              <a:gd name="connsiteX16" fmla="*/ 176468 w 2089376"/>
              <a:gd name="connsiteY16" fmla="*/ 738905 h 3614056"/>
              <a:gd name="connsiteX17" fmla="*/ 1959892 w 2089376"/>
              <a:gd name="connsiteY17" fmla="*/ 738905 h 3614056"/>
              <a:gd name="connsiteX18" fmla="*/ 1959892 w 2089376"/>
              <a:gd name="connsiteY18" fmla="*/ 2875208 h 3614056"/>
              <a:gd name="connsiteX19" fmla="*/ 176468 w 2089376"/>
              <a:gd name="connsiteY19" fmla="*/ 2875208 h 3614056"/>
              <a:gd name="connsiteX20" fmla="*/ 176468 w 2089376"/>
              <a:gd name="connsiteY20" fmla="*/ 738905 h 3614056"/>
              <a:gd name="connsiteX21" fmla="*/ 1068180 w 2089376"/>
              <a:gd name="connsiteY21" fmla="*/ 3045747 h 3614056"/>
              <a:gd name="connsiteX22" fmla="*/ 1068180 w 2089376"/>
              <a:gd name="connsiteY22" fmla="*/ 3045747 h 3614056"/>
              <a:gd name="connsiteX23" fmla="*/ 1267066 w 2089376"/>
              <a:gd name="connsiteY23" fmla="*/ 3244633 h 3614056"/>
              <a:gd name="connsiteX24" fmla="*/ 1267066 w 2089376"/>
              <a:gd name="connsiteY24" fmla="*/ 3244633 h 3614056"/>
              <a:gd name="connsiteX25" fmla="*/ 1267066 w 2089376"/>
              <a:gd name="connsiteY25" fmla="*/ 3244633 h 3614056"/>
              <a:gd name="connsiteX26" fmla="*/ 1267066 w 2089376"/>
              <a:gd name="connsiteY26" fmla="*/ 3244633 h 3614056"/>
              <a:gd name="connsiteX27" fmla="*/ 1068180 w 2089376"/>
              <a:gd name="connsiteY27" fmla="*/ 3443519 h 3614056"/>
              <a:gd name="connsiteX28" fmla="*/ 1068180 w 2089376"/>
              <a:gd name="connsiteY28" fmla="*/ 3443519 h 3614056"/>
              <a:gd name="connsiteX29" fmla="*/ 1068180 w 2089376"/>
              <a:gd name="connsiteY29" fmla="*/ 3443519 h 3614056"/>
              <a:gd name="connsiteX30" fmla="*/ 1068180 w 2089376"/>
              <a:gd name="connsiteY30" fmla="*/ 3443519 h 3614056"/>
              <a:gd name="connsiteX31" fmla="*/ 869294 w 2089376"/>
              <a:gd name="connsiteY31" fmla="*/ 3244633 h 3614056"/>
              <a:gd name="connsiteX32" fmla="*/ 869294 w 2089376"/>
              <a:gd name="connsiteY32" fmla="*/ 3244633 h 3614056"/>
              <a:gd name="connsiteX33" fmla="*/ 869294 w 2089376"/>
              <a:gd name="connsiteY33" fmla="*/ 3244633 h 3614056"/>
              <a:gd name="connsiteX34" fmla="*/ 869294 w 2089376"/>
              <a:gd name="connsiteY34" fmla="*/ 3244633 h 3614056"/>
              <a:gd name="connsiteX35" fmla="*/ 1068180 w 2089376"/>
              <a:gd name="connsiteY35" fmla="*/ 3045747 h 3614056"/>
              <a:gd name="connsiteX36" fmla="*/ 1068180 w 2089376"/>
              <a:gd name="connsiteY36" fmla="*/ 3045747 h 3614056"/>
              <a:gd name="connsiteX37" fmla="*/ 1068180 w 2089376"/>
              <a:gd name="connsiteY37" fmla="*/ 3045747 h 3614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089376" h="3614056">
                <a:moveTo>
                  <a:pt x="321256" y="0"/>
                </a:moveTo>
                <a:cubicBezTo>
                  <a:pt x="144562" y="0"/>
                  <a:pt x="0" y="144562"/>
                  <a:pt x="0" y="321256"/>
                </a:cubicBezTo>
                <a:lnTo>
                  <a:pt x="0" y="3292801"/>
                </a:lnTo>
                <a:cubicBezTo>
                  <a:pt x="0" y="3469495"/>
                  <a:pt x="144562" y="3614057"/>
                  <a:pt x="321256" y="3614057"/>
                </a:cubicBezTo>
                <a:lnTo>
                  <a:pt x="1815047" y="3614057"/>
                </a:lnTo>
                <a:cubicBezTo>
                  <a:pt x="1991741" y="3614057"/>
                  <a:pt x="2136303" y="3469495"/>
                  <a:pt x="2136303" y="3292801"/>
                </a:cubicBezTo>
                <a:lnTo>
                  <a:pt x="2136303" y="321256"/>
                </a:lnTo>
                <a:cubicBezTo>
                  <a:pt x="2136303" y="144562"/>
                  <a:pt x="1991741" y="0"/>
                  <a:pt x="1815047" y="0"/>
                </a:cubicBezTo>
                <a:lnTo>
                  <a:pt x="321256" y="0"/>
                </a:lnTo>
                <a:close/>
                <a:moveTo>
                  <a:pt x="889115" y="309397"/>
                </a:moveTo>
                <a:lnTo>
                  <a:pt x="1247302" y="309397"/>
                </a:lnTo>
                <a:cubicBezTo>
                  <a:pt x="1270849" y="309397"/>
                  <a:pt x="1289936" y="336390"/>
                  <a:pt x="1289936" y="369650"/>
                </a:cubicBezTo>
                <a:cubicBezTo>
                  <a:pt x="1289936" y="402911"/>
                  <a:pt x="1270849" y="429903"/>
                  <a:pt x="1247302" y="429903"/>
                </a:cubicBezTo>
                <a:lnTo>
                  <a:pt x="889115" y="429903"/>
                </a:lnTo>
                <a:cubicBezTo>
                  <a:pt x="865567" y="429903"/>
                  <a:pt x="846480" y="402911"/>
                  <a:pt x="846480" y="369650"/>
                </a:cubicBezTo>
                <a:cubicBezTo>
                  <a:pt x="846480" y="336390"/>
                  <a:pt x="865567" y="309397"/>
                  <a:pt x="889115" y="309397"/>
                </a:cubicBezTo>
                <a:close/>
                <a:moveTo>
                  <a:pt x="176468" y="738905"/>
                </a:moveTo>
                <a:lnTo>
                  <a:pt x="1959892" y="738905"/>
                </a:lnTo>
                <a:lnTo>
                  <a:pt x="1959892" y="2875208"/>
                </a:lnTo>
                <a:lnTo>
                  <a:pt x="176468" y="2875208"/>
                </a:lnTo>
                <a:lnTo>
                  <a:pt x="176468" y="738905"/>
                </a:lnTo>
                <a:close/>
                <a:moveTo>
                  <a:pt x="1068180" y="3045747"/>
                </a:moveTo>
                <a:cubicBezTo>
                  <a:pt x="1068180" y="3045747"/>
                  <a:pt x="1068180" y="3045747"/>
                  <a:pt x="1068180" y="3045747"/>
                </a:cubicBezTo>
                <a:cubicBezTo>
                  <a:pt x="1178013" y="3045747"/>
                  <a:pt x="1267066" y="3134799"/>
                  <a:pt x="1267066" y="3244633"/>
                </a:cubicBezTo>
                <a:cubicBezTo>
                  <a:pt x="1267066" y="3244633"/>
                  <a:pt x="1267066" y="3244633"/>
                  <a:pt x="1267066" y="3244633"/>
                </a:cubicBezTo>
                <a:lnTo>
                  <a:pt x="1267066" y="3244633"/>
                </a:lnTo>
                <a:cubicBezTo>
                  <a:pt x="1267066" y="3244633"/>
                  <a:pt x="1267066" y="3244633"/>
                  <a:pt x="1267066" y="3244633"/>
                </a:cubicBezTo>
                <a:cubicBezTo>
                  <a:pt x="1267066" y="3354466"/>
                  <a:pt x="1178013" y="3443519"/>
                  <a:pt x="1068180" y="3443519"/>
                </a:cubicBezTo>
                <a:cubicBezTo>
                  <a:pt x="1068180" y="3443519"/>
                  <a:pt x="1068180" y="3443519"/>
                  <a:pt x="1068180" y="3443519"/>
                </a:cubicBezTo>
                <a:lnTo>
                  <a:pt x="1068180" y="3443519"/>
                </a:lnTo>
                <a:cubicBezTo>
                  <a:pt x="1068180" y="3443519"/>
                  <a:pt x="1068180" y="3443519"/>
                  <a:pt x="1068180" y="3443519"/>
                </a:cubicBezTo>
                <a:cubicBezTo>
                  <a:pt x="958346" y="3443519"/>
                  <a:pt x="869294" y="3354466"/>
                  <a:pt x="869294" y="3244633"/>
                </a:cubicBezTo>
                <a:cubicBezTo>
                  <a:pt x="869294" y="3244633"/>
                  <a:pt x="869294" y="3244633"/>
                  <a:pt x="869294" y="3244633"/>
                </a:cubicBezTo>
                <a:lnTo>
                  <a:pt x="869294" y="3244633"/>
                </a:lnTo>
                <a:cubicBezTo>
                  <a:pt x="869294" y="3244633"/>
                  <a:pt x="869294" y="3244633"/>
                  <a:pt x="869294" y="3244633"/>
                </a:cubicBezTo>
                <a:cubicBezTo>
                  <a:pt x="869294" y="3134799"/>
                  <a:pt x="958346" y="3045747"/>
                  <a:pt x="1068180" y="3045747"/>
                </a:cubicBezTo>
                <a:cubicBezTo>
                  <a:pt x="1068180" y="3045747"/>
                  <a:pt x="1068180" y="3045747"/>
                  <a:pt x="1068180" y="3045747"/>
                </a:cubicBezTo>
                <a:lnTo>
                  <a:pt x="1068180" y="3045747"/>
                </a:lnTo>
                <a:close/>
              </a:path>
            </a:pathLst>
          </a:custGeom>
          <a:solidFill>
            <a:srgbClr val="CDCDCD"/>
          </a:solidFill>
          <a:ln w="5640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5520EB-0F65-403D-A973-B17B2A4C2E9D}"/>
              </a:ext>
            </a:extLst>
          </p:cNvPr>
          <p:cNvSpPr txBox="1"/>
          <p:nvPr/>
        </p:nvSpPr>
        <p:spPr>
          <a:xfrm>
            <a:off x="20010311" y="28501422"/>
            <a:ext cx="80773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DCDCD"/>
                </a:solidFill>
                <a:effectLst/>
                <a:uLnTx/>
                <a:uFillTx/>
                <a:latin typeface="Lato Black" panose="020F0A02020204030203" pitchFamily="34" charset="0"/>
                <a:ea typeface="+mn-ea"/>
                <a:cs typeface="Arial" panose="020B0604020202020204" pitchFamily="34" charset="0"/>
              </a:rPr>
              <a:t>Take a picture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DCDCD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Arial" panose="020B0604020202020204" pitchFamily="34" charset="0"/>
              </a:rPr>
              <a:t> to </a:t>
            </a:r>
            <a:b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DCDCD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DCDCD"/>
                </a:solidFill>
                <a:effectLst/>
                <a:uLnTx/>
                <a:uFillTx/>
                <a:latin typeface="Lato Black" panose="020F0A02020204030203" pitchFamily="34" charset="0"/>
                <a:ea typeface="+mn-ea"/>
                <a:cs typeface="Arial" panose="020B0604020202020204" pitchFamily="34" charset="0"/>
              </a:rPr>
              <a:t>download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DCDCD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Arial" panose="020B0604020202020204" pitchFamily="34" charset="0"/>
              </a:rPr>
              <a:t> the</a:t>
            </a: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CDCDCD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DCDCD"/>
                </a:solidFill>
                <a:effectLst/>
                <a:uLnTx/>
                <a:uFillTx/>
                <a:latin typeface="Lato Black" panose="020F0A02020204030203" pitchFamily="34" charset="0"/>
                <a:ea typeface="+mn-ea"/>
                <a:cs typeface="Arial" panose="020B0604020202020204" pitchFamily="34" charset="0"/>
              </a:rPr>
              <a:t>full paper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3A7B10-D6D9-4BF7-9A8B-B3113FDC3D80}"/>
              </a:ext>
            </a:extLst>
          </p:cNvPr>
          <p:cNvSpPr/>
          <p:nvPr/>
        </p:nvSpPr>
        <p:spPr>
          <a:xfrm>
            <a:off x="1169537" y="3212650"/>
            <a:ext cx="1670876" cy="1590801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DB5C0A9-48EF-4957-80A2-585367894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6324" y="28807176"/>
            <a:ext cx="3162300" cy="2581275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2B70FBA-A2DF-453C-9792-CA6E8DB0D343}"/>
              </a:ext>
            </a:extLst>
          </p:cNvPr>
          <p:cNvCxnSpPr>
            <a:cxnSpLocks/>
          </p:cNvCxnSpPr>
          <p:nvPr/>
        </p:nvCxnSpPr>
        <p:spPr>
          <a:xfrm flipH="1">
            <a:off x="16936172" y="29408785"/>
            <a:ext cx="1297464" cy="0"/>
          </a:xfrm>
          <a:prstGeom prst="straightConnector1">
            <a:avLst/>
          </a:prstGeom>
          <a:ln w="66675"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raphic 18">
            <a:extLst>
              <a:ext uri="{FF2B5EF4-FFF2-40B4-BE49-F238E27FC236}">
                <a16:creationId xmlns:a16="http://schemas.microsoft.com/office/drawing/2014/main" id="{C1210836-80D5-470E-883D-041B85957069}"/>
              </a:ext>
            </a:extLst>
          </p:cNvPr>
          <p:cNvSpPr/>
          <p:nvPr/>
        </p:nvSpPr>
        <p:spPr>
          <a:xfrm>
            <a:off x="1568455" y="3652878"/>
            <a:ext cx="794104" cy="738508"/>
          </a:xfrm>
          <a:custGeom>
            <a:avLst/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bg1"/>
          </a:solidFill>
          <a:ln w="3663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A4CF46-E210-4322-91D1-2A41779F64E4}"/>
              </a:ext>
            </a:extLst>
          </p:cNvPr>
          <p:cNvSpPr/>
          <p:nvPr/>
        </p:nvSpPr>
        <p:spPr>
          <a:xfrm>
            <a:off x="2987437" y="3134063"/>
            <a:ext cx="3878819" cy="148668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PRESENTER: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C107"/>
                </a:highlight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Leeroy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Jenkins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C155C6-7E35-4156-B9B3-271571AF60CC}"/>
              </a:ext>
            </a:extLst>
          </p:cNvPr>
          <p:cNvSpPr txBox="1"/>
          <p:nvPr/>
        </p:nvSpPr>
        <p:spPr>
          <a:xfrm>
            <a:off x="1022513" y="1085789"/>
            <a:ext cx="76620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Title:</a:t>
            </a:r>
            <a:br>
              <a:rPr kumimoji="0" lang="en-US" sz="5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</a:br>
            <a:r>
              <a:rPr kumimoji="0" lang="en-US" sz="5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Subtitle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F61B32-8F5A-4CA2-B549-F3CD26098007}"/>
              </a:ext>
            </a:extLst>
          </p:cNvPr>
          <p:cNvSpPr txBox="1"/>
          <p:nvPr/>
        </p:nvSpPr>
        <p:spPr>
          <a:xfrm>
            <a:off x="41128190" y="25382839"/>
            <a:ext cx="75173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Leeroy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Jenkins, author2, </a:t>
            </a:r>
            <a:b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</a:b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author3, author4, author5, author6, author7, author42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3" name="Graphic 18">
            <a:extLst>
              <a:ext uri="{FF2B5EF4-FFF2-40B4-BE49-F238E27FC236}">
                <a16:creationId xmlns:a16="http://schemas.microsoft.com/office/drawing/2014/main" id="{1B355378-8069-4F41-9F33-76FF52B1D680}"/>
              </a:ext>
            </a:extLst>
          </p:cNvPr>
          <p:cNvSpPr/>
          <p:nvPr/>
        </p:nvSpPr>
        <p:spPr>
          <a:xfrm>
            <a:off x="40636456" y="25584006"/>
            <a:ext cx="360430" cy="335196"/>
          </a:xfrm>
          <a:custGeom>
            <a:avLst/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C988AD-FB82-4850-84BE-0F496EB3BDC0}"/>
              </a:ext>
            </a:extLst>
          </p:cNvPr>
          <p:cNvSpPr/>
          <p:nvPr/>
        </p:nvSpPr>
        <p:spPr>
          <a:xfrm>
            <a:off x="18535728" y="22292412"/>
            <a:ext cx="246888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Visualize your findings with an image, graphic, or a key figure.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469FA09-6407-4240-A302-A9681C46F1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979201" y="27597921"/>
            <a:ext cx="3783061" cy="3783061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B62BF9C0-8774-4458-8210-ACA4788001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54101" y="13358194"/>
            <a:ext cx="12223692" cy="814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87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356</TotalTime>
  <Words>822</Words>
  <Application>Microsoft Macintosh PowerPoint</Application>
  <PresentationFormat>Custom</PresentationFormat>
  <Paragraphs>110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Aptos</vt:lpstr>
      <vt:lpstr>Arial</vt:lpstr>
      <vt:lpstr>Arial Rounded MT Bold</vt:lpstr>
      <vt:lpstr>Calibri</vt:lpstr>
      <vt:lpstr>Calibri Light</vt:lpstr>
      <vt:lpstr>Lato</vt:lpstr>
      <vt:lpstr>Lato Black</vt:lpstr>
      <vt:lpstr>Office Theme</vt:lpstr>
      <vt:lpstr>Measles is re-emerging where vaccination coverage drops and we need to do something about it.</vt:lpstr>
      <vt:lpstr>Measles is re-emerging where vaccination coverage drops and we need to do something about it.</vt:lpstr>
      <vt:lpstr>Main finding goes here, translated into plain English. Emphasize the important words.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Das, Arkesh</dc:creator>
  <cp:lastModifiedBy>Das, Arkesh</cp:lastModifiedBy>
  <cp:revision>3</cp:revision>
  <dcterms:created xsi:type="dcterms:W3CDTF">2026-04-09T17:18:54Z</dcterms:created>
  <dcterms:modified xsi:type="dcterms:W3CDTF">2026-04-09T23:15:50Z</dcterms:modified>
</cp:coreProperties>
</file>